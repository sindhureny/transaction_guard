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B56E0469-A40C-0D17-41E5-E77139F4CDFC}">
          <p14:sldIdLst>
            <p14:sldId id="256"/>
            <p14:sldId id="257"/>
            <p14:sldId id="258"/>
          </p14:sldIdLst>
        </p14:section>
        <p14:section name="Design" id="{B448C0FB-6AA0-2A17-5951-629777B6FEEA}">
          <p14:sldIdLst>
            <p14:sldId id="259"/>
            <p14:sldId id="260"/>
            <p14:sldId id="261"/>
          </p14:sldIdLst>
        </p14:section>
        <p14:section name="Evidence" id="{7C45CA5E-3175-F6BB-8E46-5D2EDD0166F9}">
          <p14:sldIdLst>
            <p14:sldId id="262"/>
            <p14:sldId id="263"/>
          </p14:sldIdLst>
        </p14:section>
        <p14:section name="Wrap-up" id="{1876F742-55E6-C547-33DA-7B01B7B8044B}">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67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0885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TransactionGuard is a small, SQL-based screening system built on Exasol for the Money, Risk &amp; Regulation track. It checks payment records against three rules and labels each transaction REVIEW or NORMAL, with a reason. Important framing from the start: a REVIEW label means 'worth a human look', not 'proven fraud'. The graphic on the right is decorative and does not show real data.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Banks and payment processors handle huge volumes of transactions. Three things are hard to catch by eye: duplicate payments, unusually large payments, and accounts that suddenly transact many times in a day. The idea is not to replace investigators. It is to give them a prioritized list so their time goes to the transactions that most need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workflow. Transaction data sits in a TRANSACTIONS table in Exasol. SQL window functions count duplicates per account, amount and merchant, and transactions per account per day. A weighted score is turned into a severity and a status: REVIEW if any rule fired, NORMAL otherwise, with the reasons attached. Finally, a review-queue query and summary views present results. Emphasize that every flag has an explanation, so an analyst can see why it was raised.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solid teal boxes are what exists in the repository today: a sample TRANSACTIONS table, an Exasol schema, a single detection view built with SQL window functions, a scoring and classification layer inside that view, and the output queries and summary views. The dashed orange boxes at the bottom are planned ideas only. They are not implemented, and I want to be clear about that boundary.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deliberately small. Exasol Personal hosts the data and runs the logic. The logic itself is plain SQL: common table expressions, window functions and CASE expressions. GitHub hosts the code and, per the repository, a GitHub Actions workflow. The README also describes a Python demo and unit tests for local use. At the bottom: there is no machine learning, no AI, no external API and no frontend. Detection is purely rule-based SQL.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rules come straight from the SQL in the repository. Duplicates are found with a COUNT window partitioned by account, amount and merchant. Daily frequency uses a COUNT partitioned by account and calendar date. High value is a simple amount comparison. Each triggered rule adds weight to a score: 35 for duplicate, 40 for high value, 25 for high frequency. Any score above zero becomes REVIEW. The excerpt is shortened and lightly reformatted. All thresholds and weights are hard-coded literals in the SQL, so they are fixed today. Making them configurable is future work. Because the score is summed, one transaction can trigger several rules, and all reasons are concatenated so none is hidden.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is hypothetical and is labelled illustrative on the slide. These rows are not from the repository and are not real banking data; I invented them to show the rules. EX-02 is flagged for amount alone. EX-03 and EX-04 are an account, amount and merchant match, so both are flagged as possible duplicates. EX-05 and EX-06 are duplicates and high value at once, so the score adds to 75 and the severity is CRITICAL. EX-01 triggers nothing and stays NORMAL. A real analyst would then investigate the REVIEW rows; a flag is a prompt for review, not a verdict.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the sample output documented in the repository README for the nine seeded transactions. I cross-checked it by re-applying the SQL rules to the seed data, and the counts match: 7 of 9 transactions flagged, 30,950 of 33,650 dollars of sample volume under review. To be clear, this is a tiny demo dataset. It shows the rules behave as designed; it is not an accuracy or fraud-detection-rate claim, and I make no performance claims. The dashed box is a placeholder: before presenting, run the master SQL script in Exasol Personal and paste a screenshot of the review queue and summary results 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limits first. Three rules cannot catch every kind of fraud, and legitimate large payments will sometimes be flagged. Every REVIEW result needs a human investigator. Reading the SQL also shows two specific limits: the thresholds are hard-coded, and the duplicate rule matches account, amount and merchant with no time window. On the right, the dashed cards are future ideas only, not completed work: configurable thresholds, richer patterns, a dashboard, and evaluation against labelled datasets.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TransactionGuard shows how Exasol and SQL can screen financial transactions with a small set of transparent rules, and how each result comes with a score, a status and a reason. It prioritizes activity for human investigation; it does not claim to detect confirmed fraud and is not production-ready. The code, SQL scripts and README are on GitHub at the link shown. Thank you;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marL="0" indent="0">
              <a:buNone/>
            </a:pPr>
            <a:r>
              <a:rPr lang="en-US" sz="1000" dirty="0">
                <a:solidFill>
                  <a:schemeClr val="accent6"/>
                </a:solidFill>
              </a:rPr>
              <a:t>TransactionGuard  |  Suspicious Transaction Detection Using Exasol</a:t>
            </a:r>
            <a:endParaRPr lang="en-US" sz="1000" dirty="0"/>
          </a:p>
        </p:txBody>
      </p:sp>
      <p:sp>
        <p:nvSpPr>
          <p:cNvPr id="3" name="Text 1"/>
          <p:cNvSpPr>
            <a:spLocks noGrp="1"/>
          </p:cNvSpPr>
          <p:nvPr>
            <p:ph type="title" idx="101" hasCustomPrompt="1"/>
          </p:nvPr>
        </p:nvSpPr>
        <p:spPr>
          <a:xfrm>
            <a:off x="548640" y="365760"/>
            <a:ext cx="11094415" cy="77724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nvSpPr>
        <p:spPr>
          <a:xfrm>
            <a:off x="548640" y="644652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TransactionGuard  |  Suspicious Transaction Detection Using Exasol</a:t>
            </a:r>
            <a:endParaRPr lang="en-US" sz="1000" dirty="0"/>
          </a:p>
        </p:txBody>
      </p:sp>
      <p:sp>
        <p:nvSpPr>
          <p:cNvPr id="4" name="Text 2"/>
          <p:cNvSpPr>
            <a:spLocks noGrp="1"/>
          </p:cNvSpPr>
          <p:nvPr>
            <p:ph type="title" idx="102" hasCustomPrompt="1"/>
          </p:nvPr>
        </p:nvSpPr>
        <p:spPr>
          <a:xfrm>
            <a:off x="640080" y="1417320"/>
            <a:ext cx="6309360" cy="1188720"/>
          </a:xfrm>
          <a:prstGeom prst="rect">
            <a:avLst/>
          </a:prstGeom>
          <a:noFill/>
          <a:ln/>
        </p:spPr>
        <p:txBody>
          <a:bodyPr wrap="square" rtlCol="0"/>
          <a:lstStyle>
            <a:lvl1pPr marL="0" indent="0" algn="l">
              <a:buNone/>
              <a:defRPr lang="en-US" sz="6000" b="1" dirty="0">
                <a:solidFill>
                  <a:schemeClr val="bg1"/>
                </a:solidFill>
              </a:defRPr>
            </a:lvl1pPr>
          </a:lstStyle>
          <a:p>
            <a:pPr marL="0" indent="0" algn="l">
              <a:buNone/>
            </a:pPr>
            <a:endParaRPr lang="en-US" sz="6000" dirty="0"/>
          </a:p>
        </p:txBody>
      </p:sp>
      <p:sp>
        <p:nvSpPr>
          <p:cNvPr id="5" name="Text 2"/>
          <p:cNvSpPr>
            <a:spLocks noGrp="1"/>
          </p:cNvSpPr>
          <p:nvPr>
            <p:ph type="body" idx="103" hasCustomPrompt="1"/>
          </p:nvPr>
        </p:nvSpPr>
        <p:spPr>
          <a:xfrm>
            <a:off x="640080" y="2743200"/>
            <a:ext cx="6035040" cy="1051560"/>
          </a:xfrm>
          <a:prstGeom prst="rect">
            <a:avLst/>
          </a:prstGeom>
          <a:noFill/>
          <a:ln/>
        </p:spPr>
        <p:txBody>
          <a:bodyPr wrap="square" rtlCol="0"/>
          <a:lstStyle>
            <a:lvl1pPr marL="0" indent="0" algn="l">
              <a:buNone/>
              <a:defRPr lang="en-US" sz="2800" dirty="0">
                <a:solidFill>
                  <a:schemeClr val="accent4"/>
                </a:solidFill>
              </a:defRPr>
            </a:lvl1pPr>
          </a:lstStyle>
          <a:p>
            <a:pPr marL="0" indent="0" algn="l">
              <a:buNone/>
            </a:pPr>
            <a:endParaRPr lang="en-US" sz="2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nvSpPr>
        <p:spPr>
          <a:xfrm>
            <a:off x="548640" y="644652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TransactionGuard  |  Suspicious Transaction Detection Using Exasol</a:t>
            </a:r>
            <a:endParaRPr lang="en-US" sz="1000" dirty="0"/>
          </a:p>
        </p:txBody>
      </p:sp>
      <p:sp>
        <p:nvSpPr>
          <p:cNvPr id="4" name="Text 2"/>
          <p:cNvSpPr>
            <a:spLocks noGrp="1"/>
          </p:cNvSpPr>
          <p:nvPr>
            <p:ph type="title" idx="102" hasCustomPrompt="1"/>
          </p:nvPr>
        </p:nvSpPr>
        <p:spPr>
          <a:xfrm>
            <a:off x="548640" y="365760"/>
            <a:ext cx="11094415" cy="7772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hyperlink" Target="https://github.com/Sindhureny/transaction_guard"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1417320"/>
            <a:ext cx="6309360" cy="1188720"/>
          </a:xfrm>
          <a:prstGeom prst="rect">
            <a:avLst/>
          </a:prstGeom>
          <a:noFill/>
          <a:ln/>
        </p:spPr>
        <p:txBody>
          <a:bodyPr wrap="square" lIns="0" tIns="0" rIns="0" bIns="0" rtlCol="0" anchor="b"/>
          <a:lstStyle/>
          <a:p>
            <a:pPr marL="0" indent="0" algn="l">
              <a:buNone/>
            </a:pPr>
            <a:r>
              <a:rPr lang="en-US" sz="6000" b="1" dirty="0">
                <a:solidFill>
                  <a:schemeClr val="bg1"/>
                </a:solidFill>
              </a:rPr>
              <a:t>TransactionGuard</a:t>
            </a:r>
            <a:endParaRPr lang="en-US" sz="6000" dirty="0"/>
          </a:p>
        </p:txBody>
      </p:sp>
      <p:sp>
        <p:nvSpPr>
          <p:cNvPr id="3" name="Text 2"/>
          <p:cNvSpPr>
            <a:spLocks noGrp="1"/>
          </p:cNvSpPr>
          <p:nvPr>
            <p:ph type="body" idx="103" hasCustomPrompt="1"/>
          </p:nvPr>
        </p:nvSpPr>
        <p:spPr>
          <a:xfrm>
            <a:off x="640080" y="2743200"/>
            <a:ext cx="6035040" cy="1051560"/>
          </a:xfrm>
          <a:prstGeom prst="rect">
            <a:avLst/>
          </a:prstGeom>
          <a:noFill/>
          <a:ln/>
        </p:spPr>
        <p:txBody>
          <a:bodyPr wrap="square" lIns="0" tIns="0" rIns="0" bIns="0" rtlCol="0" anchor="t"/>
          <a:lstStyle/>
          <a:p>
            <a:pPr marL="0" indent="0" algn="l">
              <a:buNone/>
            </a:pPr>
            <a:r>
              <a:rPr lang="en-US" sz="2800" dirty="0">
                <a:solidFill>
                  <a:schemeClr val="accent4"/>
                </a:solidFill>
              </a:rPr>
              <a:t>Suspicious Transaction Detection Using Exasol</a:t>
            </a:r>
            <a:endParaRPr lang="en-US" sz="2800" dirty="0"/>
          </a:p>
        </p:txBody>
      </p:sp>
      <p:sp>
        <p:nvSpPr>
          <p:cNvPr id="4" name="Track"/>
          <p:cNvSpPr txBox="1"/>
          <p:nvPr/>
        </p:nvSpPr>
        <p:spPr>
          <a:xfrm>
            <a:off x="640080" y="4251960"/>
            <a:ext cx="6217920" cy="365760"/>
          </a:xfrm>
          <a:prstGeom prst="rect">
            <a:avLst/>
          </a:prstGeom>
          <a:noFill/>
          <a:ln/>
        </p:spPr>
        <p:txBody>
          <a:bodyPr wrap="square" lIns="0" tIns="0" rIns="0" bIns="0" rtlCol="0" anchor="t"/>
          <a:lstStyle/>
          <a:p>
            <a:pPr marL="0" indent="0">
              <a:buNone/>
            </a:pPr>
            <a:r>
              <a:rPr lang="en-US" sz="1800" b="1" dirty="0">
                <a:solidFill>
                  <a:schemeClr val="accent4"/>
                </a:solidFill>
              </a:rPr>
              <a:t>Project track: </a:t>
            </a:r>
            <a:r>
              <a:rPr lang="en-US" sz="1800" dirty="0">
                <a:solidFill>
                  <a:schemeClr val="bg1"/>
                </a:solidFill>
              </a:rPr>
              <a:t>Money, Risk &amp; Regulation</a:t>
            </a:r>
            <a:endParaRPr lang="en-US" sz="1800" dirty="0"/>
          </a:p>
        </p:txBody>
      </p:sp>
      <p:sp>
        <p:nvSpPr>
          <p:cNvPr id="5" name="Participant"/>
          <p:cNvSpPr txBox="1"/>
          <p:nvPr/>
        </p:nvSpPr>
        <p:spPr>
          <a:xfrm>
            <a:off x="640080" y="4709160"/>
            <a:ext cx="6217920" cy="365760"/>
          </a:xfrm>
          <a:prstGeom prst="rect">
            <a:avLst/>
          </a:prstGeom>
          <a:noFill/>
          <a:ln/>
        </p:spPr>
        <p:txBody>
          <a:bodyPr wrap="square" lIns="0" tIns="0" rIns="0" bIns="0" rtlCol="0" anchor="t"/>
          <a:lstStyle/>
          <a:p>
            <a:pPr marL="0" indent="0">
              <a:buNone/>
            </a:pPr>
            <a:r>
              <a:rPr lang="en-US" sz="1800" b="1" dirty="0">
                <a:solidFill>
                  <a:schemeClr val="accent4"/>
                </a:solidFill>
              </a:rPr>
              <a:t>Participant: </a:t>
            </a:r>
            <a:r>
              <a:rPr lang="en-US" sz="1800" dirty="0" err="1">
                <a:solidFill>
                  <a:schemeClr val="bg1"/>
                </a:solidFill>
              </a:rPr>
              <a:t>Sindhureny</a:t>
            </a:r>
            <a:r>
              <a:rPr lang="en-US" sz="1800" dirty="0">
                <a:solidFill>
                  <a:schemeClr val="bg1"/>
                </a:solidFill>
              </a:rPr>
              <a:t> S, </a:t>
            </a:r>
            <a:r>
              <a:rPr lang="en-US" sz="1800" dirty="0" err="1">
                <a:solidFill>
                  <a:schemeClr val="bg1"/>
                </a:solidFill>
              </a:rPr>
              <a:t>Yashwanthiga</a:t>
            </a:r>
            <a:r>
              <a:rPr lang="en-US" sz="1800" dirty="0">
                <a:solidFill>
                  <a:schemeClr val="bg1"/>
                </a:solidFill>
              </a:rPr>
              <a:t> G, </a:t>
            </a:r>
            <a:r>
              <a:rPr lang="en-US" sz="1800" dirty="0" err="1">
                <a:solidFill>
                  <a:schemeClr val="bg1"/>
                </a:solidFill>
              </a:rPr>
              <a:t>TarunShree</a:t>
            </a:r>
            <a:r>
              <a:rPr lang="en-US" sz="1800" dirty="0">
                <a:solidFill>
                  <a:schemeClr val="bg1"/>
                </a:solidFill>
              </a:rPr>
              <a:t> M</a:t>
            </a:r>
            <a:endParaRPr lang="en-US" sz="1800" dirty="0"/>
          </a:p>
        </p:txBody>
      </p:sp>
      <p:sp>
        <p:nvSpPr>
          <p:cNvPr id="6" name="Disclaimer"/>
          <p:cNvSpPr txBox="1"/>
          <p:nvPr/>
        </p:nvSpPr>
        <p:spPr>
          <a:xfrm>
            <a:off x="640080" y="5669280"/>
            <a:ext cx="6217920" cy="320040"/>
          </a:xfrm>
          <a:prstGeom prst="rect">
            <a:avLst/>
          </a:prstGeom>
          <a:noFill/>
          <a:ln/>
        </p:spPr>
        <p:txBody>
          <a:bodyPr wrap="square" lIns="0" tIns="0" rIns="0" bIns="0" rtlCol="0" anchor="t"/>
          <a:lstStyle/>
          <a:p>
            <a:pPr marL="0" indent="0">
              <a:buNone/>
            </a:pPr>
            <a:r>
              <a:rPr lang="en-US" sz="1400" i="1" dirty="0">
                <a:solidFill>
                  <a:schemeClr val="accent5"/>
                </a:solidFill>
              </a:rPr>
              <a:t>Transactions are flagged for review — not proven fraudulent.</a:t>
            </a:r>
            <a:endParaRPr lang="en-US" sz="1400" dirty="0"/>
          </a:p>
        </p:txBody>
      </p:sp>
      <p:sp>
        <p:nvSpPr>
          <p:cNvPr id="7" name="Visual panel"/>
          <p:cNvSpPr/>
          <p:nvPr/>
        </p:nvSpPr>
        <p:spPr>
          <a:xfrm>
            <a:off x="7315200" y="914400"/>
            <a:ext cx="4325112" cy="5029200"/>
          </a:xfrm>
          <a:prstGeom prst="roundRect">
            <a:avLst>
              <a:gd name="adj" fmla="val 2114"/>
            </a:avLst>
          </a:prstGeom>
          <a:solidFill>
            <a:schemeClr val="tx2"/>
          </a:solidFill>
          <a:ln/>
        </p:spPr>
      </p:sp>
      <p:sp>
        <p:nvSpPr>
          <p:cNvPr id="8" name="Shield badge"/>
          <p:cNvSpPr/>
          <p:nvPr/>
        </p:nvSpPr>
        <p:spPr>
          <a:xfrm>
            <a:off x="8979408" y="1234440"/>
            <a:ext cx="1005840" cy="1005840"/>
          </a:xfrm>
          <a:prstGeom prst="ellipse">
            <a:avLst/>
          </a:prstGeom>
          <a:solidFill>
            <a:schemeClr val="accent1"/>
          </a:solidFill>
          <a:ln/>
        </p:spPr>
      </p:sp>
      <p:pic>
        <p:nvPicPr>
          <p:cNvPr id="9" name="Shield icon" descr="Shield icon"/>
          <p:cNvPicPr>
            <a:picLocks noChangeAspect="1"/>
          </p:cNvPicPr>
          <p:nvPr/>
        </p:nvPicPr>
        <p:blipFill>
          <a:blip r:embed="rId3"/>
          <a:stretch>
            <a:fillRect/>
          </a:stretch>
        </p:blipFill>
        <p:spPr>
          <a:xfrm>
            <a:off x="9240926" y="1495958"/>
            <a:ext cx="482803" cy="482803"/>
          </a:xfrm>
          <a:prstGeom prst="rect">
            <a:avLst/>
          </a:prstGeom>
        </p:spPr>
      </p:pic>
      <p:sp>
        <p:nvSpPr>
          <p:cNvPr id="10" name="Ledger row 1"/>
          <p:cNvSpPr/>
          <p:nvPr/>
        </p:nvSpPr>
        <p:spPr>
          <a:xfrm>
            <a:off x="7589520" y="2560320"/>
            <a:ext cx="3776472" cy="640080"/>
          </a:xfrm>
          <a:prstGeom prst="roundRect">
            <a:avLst>
              <a:gd name="adj" fmla="val 14286"/>
            </a:avLst>
          </a:prstGeom>
          <a:solidFill>
            <a:schemeClr val="bg1">
              <a:alpha val="10000"/>
            </a:schemeClr>
          </a:solidFill>
          <a:ln/>
        </p:spPr>
      </p:sp>
      <p:sp>
        <p:nvSpPr>
          <p:cNvPr id="11" name="Row dot 1"/>
          <p:cNvSpPr/>
          <p:nvPr/>
        </p:nvSpPr>
        <p:spPr>
          <a:xfrm>
            <a:off x="7772400" y="2743200"/>
            <a:ext cx="274320" cy="274320"/>
          </a:xfrm>
          <a:prstGeom prst="ellipse">
            <a:avLst/>
          </a:prstGeom>
          <a:solidFill>
            <a:schemeClr val="accent2"/>
          </a:solidFill>
          <a:ln/>
        </p:spPr>
      </p:sp>
      <p:sp>
        <p:nvSpPr>
          <p:cNvPr id="12" name="Row bar a"/>
          <p:cNvSpPr/>
          <p:nvPr/>
        </p:nvSpPr>
        <p:spPr>
          <a:xfrm>
            <a:off x="8229600" y="2743200"/>
            <a:ext cx="1371600" cy="91440"/>
          </a:xfrm>
          <a:prstGeom prst="roundRect">
            <a:avLst>
              <a:gd name="adj" fmla="val 50000"/>
            </a:avLst>
          </a:prstGeom>
          <a:solidFill>
            <a:schemeClr val="bg1">
              <a:alpha val="45000"/>
            </a:schemeClr>
          </a:solidFill>
          <a:ln/>
        </p:spPr>
      </p:sp>
      <p:sp>
        <p:nvSpPr>
          <p:cNvPr id="13" name="Row bar b"/>
          <p:cNvSpPr/>
          <p:nvPr/>
        </p:nvSpPr>
        <p:spPr>
          <a:xfrm>
            <a:off x="8229600" y="2926080"/>
            <a:ext cx="868680" cy="73152"/>
          </a:xfrm>
          <a:prstGeom prst="roundRect">
            <a:avLst>
              <a:gd name="adj" fmla="val 50000"/>
            </a:avLst>
          </a:prstGeom>
          <a:solidFill>
            <a:schemeClr val="bg1">
              <a:alpha val="25000"/>
            </a:schemeClr>
          </a:solidFill>
          <a:ln/>
        </p:spPr>
      </p:sp>
      <p:sp>
        <p:nvSpPr>
          <p:cNvPr id="14" name="Pill REVIEW"/>
          <p:cNvSpPr/>
          <p:nvPr/>
        </p:nvSpPr>
        <p:spPr>
          <a:xfrm>
            <a:off x="10332720" y="2734056"/>
            <a:ext cx="914400" cy="292608"/>
          </a:xfrm>
          <a:prstGeom prst="roundRect">
            <a:avLst>
              <a:gd name="adj" fmla="val 50000"/>
            </a:avLst>
          </a:prstGeom>
          <a:solidFill>
            <a:schemeClr val="accent2"/>
          </a:solidFill>
          <a:ln/>
        </p:spPr>
        <p:txBody>
          <a:bodyPr wrap="square" lIns="0" tIns="0" rIns="0" bIns="0" rtlCol="0" anchor="ctr"/>
          <a:lstStyle/>
          <a:p>
            <a:pPr marL="0" indent="0" algn="ctr">
              <a:buNone/>
            </a:pPr>
            <a:r>
              <a:rPr lang="en-US" sz="1100" b="1" dirty="0">
                <a:solidFill>
                  <a:schemeClr val="bg1"/>
                </a:solidFill>
              </a:rPr>
              <a:t>REVIEW</a:t>
            </a:r>
            <a:endParaRPr lang="en-US" sz="1100" dirty="0"/>
          </a:p>
        </p:txBody>
      </p:sp>
      <p:sp>
        <p:nvSpPr>
          <p:cNvPr id="15" name="Ledger row 2"/>
          <p:cNvSpPr/>
          <p:nvPr/>
        </p:nvSpPr>
        <p:spPr>
          <a:xfrm>
            <a:off x="7589520" y="3346704"/>
            <a:ext cx="3776472" cy="640080"/>
          </a:xfrm>
          <a:prstGeom prst="roundRect">
            <a:avLst>
              <a:gd name="adj" fmla="val 14286"/>
            </a:avLst>
          </a:prstGeom>
          <a:solidFill>
            <a:schemeClr val="bg1">
              <a:alpha val="10000"/>
            </a:schemeClr>
          </a:solidFill>
          <a:ln/>
        </p:spPr>
      </p:sp>
      <p:sp>
        <p:nvSpPr>
          <p:cNvPr id="16" name="Row dot 2"/>
          <p:cNvSpPr/>
          <p:nvPr/>
        </p:nvSpPr>
        <p:spPr>
          <a:xfrm>
            <a:off x="7772400" y="3529584"/>
            <a:ext cx="274320" cy="274320"/>
          </a:xfrm>
          <a:prstGeom prst="ellipse">
            <a:avLst/>
          </a:prstGeom>
          <a:solidFill>
            <a:schemeClr val="accent1"/>
          </a:solidFill>
          <a:ln/>
        </p:spPr>
      </p:sp>
      <p:sp>
        <p:nvSpPr>
          <p:cNvPr id="17" name="Row bar a"/>
          <p:cNvSpPr/>
          <p:nvPr/>
        </p:nvSpPr>
        <p:spPr>
          <a:xfrm>
            <a:off x="8229600" y="3529584"/>
            <a:ext cx="1371600" cy="91440"/>
          </a:xfrm>
          <a:prstGeom prst="roundRect">
            <a:avLst>
              <a:gd name="adj" fmla="val 50000"/>
            </a:avLst>
          </a:prstGeom>
          <a:solidFill>
            <a:schemeClr val="bg1">
              <a:alpha val="45000"/>
            </a:schemeClr>
          </a:solidFill>
          <a:ln/>
        </p:spPr>
      </p:sp>
      <p:sp>
        <p:nvSpPr>
          <p:cNvPr id="18" name="Row bar b"/>
          <p:cNvSpPr/>
          <p:nvPr/>
        </p:nvSpPr>
        <p:spPr>
          <a:xfrm>
            <a:off x="8229600" y="3712464"/>
            <a:ext cx="868680" cy="73152"/>
          </a:xfrm>
          <a:prstGeom prst="roundRect">
            <a:avLst>
              <a:gd name="adj" fmla="val 50000"/>
            </a:avLst>
          </a:prstGeom>
          <a:solidFill>
            <a:schemeClr val="bg1">
              <a:alpha val="25000"/>
            </a:schemeClr>
          </a:solidFill>
          <a:ln/>
        </p:spPr>
      </p:sp>
      <p:sp>
        <p:nvSpPr>
          <p:cNvPr id="19" name="Pill NORMAL"/>
          <p:cNvSpPr/>
          <p:nvPr/>
        </p:nvSpPr>
        <p:spPr>
          <a:xfrm>
            <a:off x="10332720" y="3520440"/>
            <a:ext cx="914400" cy="292608"/>
          </a:xfrm>
          <a:prstGeom prst="roundRect">
            <a:avLst>
              <a:gd name="adj" fmla="val 50000"/>
            </a:avLst>
          </a:prstGeom>
          <a:solidFill>
            <a:schemeClr val="accent1"/>
          </a:solidFill>
          <a:ln/>
        </p:spPr>
        <p:txBody>
          <a:bodyPr wrap="square" lIns="0" tIns="0" rIns="0" bIns="0" rtlCol="0" anchor="ctr"/>
          <a:lstStyle/>
          <a:p>
            <a:pPr marL="0" indent="0" algn="ctr">
              <a:buNone/>
            </a:pPr>
            <a:r>
              <a:rPr lang="en-US" sz="1100" b="1" dirty="0">
                <a:solidFill>
                  <a:schemeClr val="bg1"/>
                </a:solidFill>
              </a:rPr>
              <a:t>NORMAL</a:t>
            </a:r>
            <a:endParaRPr lang="en-US" sz="1100" dirty="0"/>
          </a:p>
        </p:txBody>
      </p:sp>
      <p:sp>
        <p:nvSpPr>
          <p:cNvPr id="20" name="Ledger row 3"/>
          <p:cNvSpPr/>
          <p:nvPr/>
        </p:nvSpPr>
        <p:spPr>
          <a:xfrm>
            <a:off x="7589520" y="4133088"/>
            <a:ext cx="3776472" cy="640080"/>
          </a:xfrm>
          <a:prstGeom prst="roundRect">
            <a:avLst>
              <a:gd name="adj" fmla="val 14286"/>
            </a:avLst>
          </a:prstGeom>
          <a:solidFill>
            <a:schemeClr val="bg1">
              <a:alpha val="10000"/>
            </a:schemeClr>
          </a:solidFill>
          <a:ln/>
        </p:spPr>
      </p:sp>
      <p:sp>
        <p:nvSpPr>
          <p:cNvPr id="21" name="Row dot 3"/>
          <p:cNvSpPr/>
          <p:nvPr/>
        </p:nvSpPr>
        <p:spPr>
          <a:xfrm>
            <a:off x="7772400" y="4315968"/>
            <a:ext cx="274320" cy="274320"/>
          </a:xfrm>
          <a:prstGeom prst="ellipse">
            <a:avLst/>
          </a:prstGeom>
          <a:solidFill>
            <a:schemeClr val="accent1"/>
          </a:solidFill>
          <a:ln/>
        </p:spPr>
      </p:sp>
      <p:sp>
        <p:nvSpPr>
          <p:cNvPr id="22" name="Row bar a"/>
          <p:cNvSpPr/>
          <p:nvPr/>
        </p:nvSpPr>
        <p:spPr>
          <a:xfrm>
            <a:off x="8229600" y="4315968"/>
            <a:ext cx="1371600" cy="91440"/>
          </a:xfrm>
          <a:prstGeom prst="roundRect">
            <a:avLst>
              <a:gd name="adj" fmla="val 50000"/>
            </a:avLst>
          </a:prstGeom>
          <a:solidFill>
            <a:schemeClr val="bg1">
              <a:alpha val="45000"/>
            </a:schemeClr>
          </a:solidFill>
          <a:ln/>
        </p:spPr>
      </p:sp>
      <p:sp>
        <p:nvSpPr>
          <p:cNvPr id="23" name="Row bar b"/>
          <p:cNvSpPr/>
          <p:nvPr/>
        </p:nvSpPr>
        <p:spPr>
          <a:xfrm>
            <a:off x="8229600" y="4498848"/>
            <a:ext cx="868680" cy="73152"/>
          </a:xfrm>
          <a:prstGeom prst="roundRect">
            <a:avLst>
              <a:gd name="adj" fmla="val 50000"/>
            </a:avLst>
          </a:prstGeom>
          <a:solidFill>
            <a:schemeClr val="bg1">
              <a:alpha val="25000"/>
            </a:schemeClr>
          </a:solidFill>
          <a:ln/>
        </p:spPr>
      </p:sp>
      <p:sp>
        <p:nvSpPr>
          <p:cNvPr id="24" name="Pill NORMAL"/>
          <p:cNvSpPr/>
          <p:nvPr/>
        </p:nvSpPr>
        <p:spPr>
          <a:xfrm>
            <a:off x="10332720" y="4306824"/>
            <a:ext cx="914400" cy="292608"/>
          </a:xfrm>
          <a:prstGeom prst="roundRect">
            <a:avLst>
              <a:gd name="adj" fmla="val 50000"/>
            </a:avLst>
          </a:prstGeom>
          <a:solidFill>
            <a:schemeClr val="accent1"/>
          </a:solidFill>
          <a:ln/>
        </p:spPr>
        <p:txBody>
          <a:bodyPr wrap="square" lIns="0" tIns="0" rIns="0" bIns="0" rtlCol="0" anchor="ctr"/>
          <a:lstStyle/>
          <a:p>
            <a:pPr marL="0" indent="0" algn="ctr">
              <a:buNone/>
            </a:pPr>
            <a:r>
              <a:rPr lang="en-US" sz="1100" b="1" dirty="0">
                <a:solidFill>
                  <a:schemeClr val="bg1"/>
                </a:solidFill>
              </a:rPr>
              <a:t>NORMAL</a:t>
            </a:r>
            <a:endParaRPr lang="en-US" sz="1100" dirty="0"/>
          </a:p>
        </p:txBody>
      </p:sp>
      <p:sp>
        <p:nvSpPr>
          <p:cNvPr id="25" name="Ledger row 4"/>
          <p:cNvSpPr/>
          <p:nvPr/>
        </p:nvSpPr>
        <p:spPr>
          <a:xfrm>
            <a:off x="7589520" y="4919472"/>
            <a:ext cx="3776472" cy="640080"/>
          </a:xfrm>
          <a:prstGeom prst="roundRect">
            <a:avLst>
              <a:gd name="adj" fmla="val 14286"/>
            </a:avLst>
          </a:prstGeom>
          <a:solidFill>
            <a:schemeClr val="bg1">
              <a:alpha val="10000"/>
            </a:schemeClr>
          </a:solidFill>
          <a:ln/>
        </p:spPr>
      </p:sp>
      <p:sp>
        <p:nvSpPr>
          <p:cNvPr id="26" name="Row dot 4"/>
          <p:cNvSpPr/>
          <p:nvPr/>
        </p:nvSpPr>
        <p:spPr>
          <a:xfrm>
            <a:off x="7772400" y="5102352"/>
            <a:ext cx="274320" cy="274320"/>
          </a:xfrm>
          <a:prstGeom prst="ellipse">
            <a:avLst/>
          </a:prstGeom>
          <a:solidFill>
            <a:schemeClr val="accent2"/>
          </a:solidFill>
          <a:ln/>
        </p:spPr>
      </p:sp>
      <p:sp>
        <p:nvSpPr>
          <p:cNvPr id="27" name="Row bar a"/>
          <p:cNvSpPr/>
          <p:nvPr/>
        </p:nvSpPr>
        <p:spPr>
          <a:xfrm>
            <a:off x="8229600" y="5102352"/>
            <a:ext cx="1371600" cy="91440"/>
          </a:xfrm>
          <a:prstGeom prst="roundRect">
            <a:avLst>
              <a:gd name="adj" fmla="val 50000"/>
            </a:avLst>
          </a:prstGeom>
          <a:solidFill>
            <a:schemeClr val="bg1">
              <a:alpha val="45000"/>
            </a:schemeClr>
          </a:solidFill>
          <a:ln/>
        </p:spPr>
      </p:sp>
      <p:sp>
        <p:nvSpPr>
          <p:cNvPr id="28" name="Row bar b"/>
          <p:cNvSpPr/>
          <p:nvPr/>
        </p:nvSpPr>
        <p:spPr>
          <a:xfrm>
            <a:off x="8229600" y="5285232"/>
            <a:ext cx="868680" cy="73152"/>
          </a:xfrm>
          <a:prstGeom prst="roundRect">
            <a:avLst>
              <a:gd name="adj" fmla="val 50000"/>
            </a:avLst>
          </a:prstGeom>
          <a:solidFill>
            <a:schemeClr val="bg1">
              <a:alpha val="25000"/>
            </a:schemeClr>
          </a:solidFill>
          <a:ln/>
        </p:spPr>
      </p:sp>
      <p:sp>
        <p:nvSpPr>
          <p:cNvPr id="29" name="Pill REVIEW"/>
          <p:cNvSpPr/>
          <p:nvPr/>
        </p:nvSpPr>
        <p:spPr>
          <a:xfrm>
            <a:off x="10332720" y="5093208"/>
            <a:ext cx="914400" cy="292608"/>
          </a:xfrm>
          <a:prstGeom prst="roundRect">
            <a:avLst>
              <a:gd name="adj" fmla="val 50000"/>
            </a:avLst>
          </a:prstGeom>
          <a:solidFill>
            <a:schemeClr val="accent2"/>
          </a:solidFill>
          <a:ln/>
        </p:spPr>
        <p:txBody>
          <a:bodyPr wrap="square" lIns="0" tIns="0" rIns="0" bIns="0" rtlCol="0" anchor="ctr"/>
          <a:lstStyle/>
          <a:p>
            <a:pPr marL="0" indent="0" algn="ctr">
              <a:buNone/>
            </a:pPr>
            <a:r>
              <a:rPr lang="en-US" sz="1100" b="1" dirty="0">
                <a:solidFill>
                  <a:schemeClr val="bg1"/>
                </a:solidFill>
              </a:rPr>
              <a:t>REVIEW</a:t>
            </a:r>
            <a:endParaRPr lang="en-US" sz="1100" dirty="0"/>
          </a:p>
        </p:txBody>
      </p:sp>
      <p:sp>
        <p:nvSpPr>
          <p:cNvPr id="30" name="Visual caption"/>
          <p:cNvSpPr txBox="1"/>
          <p:nvPr/>
        </p:nvSpPr>
        <p:spPr>
          <a:xfrm>
            <a:off x="7589520" y="5623560"/>
            <a:ext cx="3776472" cy="228600"/>
          </a:xfrm>
          <a:prstGeom prst="rect">
            <a:avLst/>
          </a:prstGeom>
          <a:noFill/>
          <a:ln/>
        </p:spPr>
        <p:txBody>
          <a:bodyPr wrap="square" lIns="0" tIns="0" rIns="0" bIns="0" rtlCol="0" anchor="t"/>
          <a:lstStyle/>
          <a:p>
            <a:pPr marL="0" indent="0" algn="ctr">
              <a:buNone/>
            </a:pPr>
            <a:r>
              <a:rPr lang="en-US" sz="1000" dirty="0">
                <a:solidFill>
                  <a:schemeClr val="accent5"/>
                </a:solidFill>
              </a:rPr>
              <a:t>Illustrative graphic — not real data</a:t>
            </a:r>
            <a:endParaRPr lang="en-US" sz="1000" dirty="0"/>
          </a:p>
        </p:txBody>
      </p:sp>
      <p:sp>
        <p:nvSpPr>
          <p:cNvPr id="31" name="TextBox 30">
            <a:extLst>
              <a:ext uri="{FF2B5EF4-FFF2-40B4-BE49-F238E27FC236}">
                <a16:creationId xmlns:a16="http://schemas.microsoft.com/office/drawing/2014/main" id="{3B71D3DA-BEB0-1B2B-8DE2-656B1153BC93}"/>
              </a:ext>
            </a:extLst>
          </p:cNvPr>
          <p:cNvSpPr txBox="1"/>
          <p:nvPr/>
        </p:nvSpPr>
        <p:spPr>
          <a:xfrm>
            <a:off x="640080" y="443753"/>
            <a:ext cx="6217920" cy="1323439"/>
          </a:xfrm>
          <a:prstGeom prst="rect">
            <a:avLst/>
          </a:prstGeom>
          <a:noFill/>
        </p:spPr>
        <p:txBody>
          <a:bodyPr wrap="square" rtlCol="0">
            <a:spAutoFit/>
          </a:bodyPr>
          <a:lstStyle/>
          <a:p>
            <a:r>
              <a:rPr lang="en-IN" sz="4000" b="1" dirty="0">
                <a:solidFill>
                  <a:schemeClr val="bg1"/>
                </a:solidFill>
                <a:latin typeface="Calibri (Headings)"/>
              </a:rPr>
              <a:t>Easwari Engineering College</a:t>
            </a:r>
            <a:br>
              <a:rPr lang="en-IN" sz="4000" b="1" dirty="0">
                <a:solidFill>
                  <a:schemeClr val="bg1"/>
                </a:solidFill>
                <a:latin typeface="Calibri (Headings)"/>
              </a:rPr>
            </a:br>
            <a:endParaRPr lang="en-IN" sz="4000" b="1" dirty="0">
              <a:solidFill>
                <a:schemeClr val="bg1"/>
              </a:solidFill>
              <a:latin typeface="Calibri (Heading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The Problem: Manual Review Doesn't Scale</a:t>
            </a:r>
            <a:endParaRPr lang="en-US" sz="3600" dirty="0"/>
          </a:p>
        </p:txBody>
      </p:sp>
      <p:sp>
        <p:nvSpPr>
          <p:cNvPr id="3" name="Intro"/>
          <p:cNvSpPr txBox="1"/>
          <p:nvPr/>
        </p:nvSpPr>
        <p:spPr>
          <a:xfrm>
            <a:off x="548640" y="1234440"/>
            <a:ext cx="11094415" cy="411480"/>
          </a:xfrm>
          <a:prstGeom prst="rect">
            <a:avLst/>
          </a:prstGeom>
          <a:noFill/>
          <a:ln/>
        </p:spPr>
        <p:txBody>
          <a:bodyPr wrap="square" lIns="0" tIns="0" rIns="0" bIns="0" rtlCol="0" anchor="t"/>
          <a:lstStyle/>
          <a:p>
            <a:pPr marL="0" indent="0">
              <a:buNone/>
            </a:pPr>
            <a:r>
              <a:rPr lang="en-US" sz="1800" dirty="0">
                <a:solidFill>
                  <a:schemeClr val="accent6"/>
                </a:solidFill>
              </a:rPr>
              <a:t>Financial institutions process large numbers of transactions every day.</a:t>
            </a:r>
            <a:endParaRPr lang="en-US" sz="1800" dirty="0"/>
          </a:p>
        </p:txBody>
      </p:sp>
      <p:sp>
        <p:nvSpPr>
          <p:cNvPr id="4" name="Problem card 1"/>
          <p:cNvSpPr/>
          <p:nvPr/>
        </p:nvSpPr>
        <p:spPr>
          <a:xfrm>
            <a:off x="548640" y="1965960"/>
            <a:ext cx="3454298" cy="2743200"/>
          </a:xfrm>
          <a:prstGeom prst="roundRect">
            <a:avLst>
              <a:gd name="adj" fmla="val 3333"/>
            </a:avLst>
          </a:prstGeom>
          <a:solidFill>
            <a:schemeClr val="bg2"/>
          </a:solidFill>
          <a:ln/>
          <a:effectLst>
            <a:outerShdw blurRad="101600" dist="25400" dir="5400000" algn="bl" rotWithShape="0">
              <a:srgbClr val="0B1F3A">
                <a:alpha val="12000"/>
              </a:srgbClr>
            </a:outerShdw>
          </a:effectLst>
        </p:spPr>
      </p:sp>
      <p:sp>
        <p:nvSpPr>
          <p:cNvPr id="5" name="Duplicate payments badge"/>
          <p:cNvSpPr/>
          <p:nvPr/>
        </p:nvSpPr>
        <p:spPr>
          <a:xfrm>
            <a:off x="868680" y="2286000"/>
            <a:ext cx="822960" cy="822960"/>
          </a:xfrm>
          <a:prstGeom prst="ellipse">
            <a:avLst/>
          </a:prstGeom>
          <a:solidFill>
            <a:schemeClr val="accent1"/>
          </a:solidFill>
          <a:ln/>
        </p:spPr>
      </p:sp>
      <p:pic>
        <p:nvPicPr>
          <p:cNvPr id="6" name="Duplicate payments icon" descr="Duplicate payments icon"/>
          <p:cNvPicPr>
            <a:picLocks noChangeAspect="1"/>
          </p:cNvPicPr>
          <p:nvPr/>
        </p:nvPicPr>
        <p:blipFill>
          <a:blip r:embed="rId3"/>
          <a:stretch>
            <a:fillRect/>
          </a:stretch>
        </p:blipFill>
        <p:spPr>
          <a:xfrm>
            <a:off x="1082650" y="2499970"/>
            <a:ext cx="395021" cy="395021"/>
          </a:xfrm>
          <a:prstGeom prst="rect">
            <a:avLst/>
          </a:prstGeom>
        </p:spPr>
      </p:pic>
      <p:sp>
        <p:nvSpPr>
          <p:cNvPr id="7" name="Duplicate payments"/>
          <p:cNvSpPr txBox="1"/>
          <p:nvPr/>
        </p:nvSpPr>
        <p:spPr>
          <a:xfrm>
            <a:off x="868680" y="3291840"/>
            <a:ext cx="2814218" cy="365760"/>
          </a:xfrm>
          <a:prstGeom prst="rect">
            <a:avLst/>
          </a:prstGeom>
          <a:noFill/>
          <a:ln/>
        </p:spPr>
        <p:txBody>
          <a:bodyPr wrap="square" lIns="0" tIns="0" rIns="0" bIns="0" rtlCol="0" anchor="t"/>
          <a:lstStyle/>
          <a:p>
            <a:pPr marL="0" indent="0">
              <a:buNone/>
            </a:pPr>
            <a:r>
              <a:rPr lang="en-US" sz="2000" b="1" dirty="0">
                <a:solidFill>
                  <a:schemeClr val="tx1"/>
                </a:solidFill>
              </a:rPr>
              <a:t>Duplicate payments</a:t>
            </a:r>
            <a:endParaRPr lang="en-US" sz="2000" dirty="0"/>
          </a:p>
        </p:txBody>
      </p:sp>
      <p:sp>
        <p:nvSpPr>
          <p:cNvPr id="8" name="Duplicate payments text"/>
          <p:cNvSpPr txBox="1"/>
          <p:nvPr/>
        </p:nvSpPr>
        <p:spPr>
          <a:xfrm>
            <a:off x="868680" y="3749040"/>
            <a:ext cx="2814218" cy="822960"/>
          </a:xfrm>
          <a:prstGeom prst="rect">
            <a:avLst/>
          </a:prstGeom>
          <a:noFill/>
          <a:ln/>
        </p:spPr>
        <p:txBody>
          <a:bodyPr wrap="square" lIns="0" tIns="0" rIns="0" bIns="0" rtlCol="0" anchor="t"/>
          <a:lstStyle/>
          <a:p>
            <a:pPr marL="0" indent="0">
              <a:buNone/>
            </a:pPr>
            <a:r>
              <a:rPr lang="en-US" sz="1500" dirty="0">
                <a:solidFill>
                  <a:schemeClr val="tx1"/>
                </a:solidFill>
              </a:rPr>
              <a:t>Repeated charges are easy to miss when records are reviewed by hand.</a:t>
            </a:r>
            <a:endParaRPr lang="en-US" sz="1500" dirty="0"/>
          </a:p>
        </p:txBody>
      </p:sp>
      <p:sp>
        <p:nvSpPr>
          <p:cNvPr id="9" name="Problem card 2"/>
          <p:cNvSpPr/>
          <p:nvPr/>
        </p:nvSpPr>
        <p:spPr>
          <a:xfrm>
            <a:off x="4368698" y="1965960"/>
            <a:ext cx="3454298" cy="2743200"/>
          </a:xfrm>
          <a:prstGeom prst="roundRect">
            <a:avLst>
              <a:gd name="adj" fmla="val 3333"/>
            </a:avLst>
          </a:prstGeom>
          <a:solidFill>
            <a:schemeClr val="bg2"/>
          </a:solidFill>
          <a:ln/>
          <a:effectLst>
            <a:outerShdw blurRad="101600" dist="25400" dir="5400000" algn="bl" rotWithShape="0">
              <a:srgbClr val="0B1F3A">
                <a:alpha val="12000"/>
              </a:srgbClr>
            </a:outerShdw>
          </a:effectLst>
        </p:spPr>
      </p:sp>
      <p:sp>
        <p:nvSpPr>
          <p:cNvPr id="10" name="Unusually large payments badge"/>
          <p:cNvSpPr/>
          <p:nvPr/>
        </p:nvSpPr>
        <p:spPr>
          <a:xfrm>
            <a:off x="4688738" y="2286000"/>
            <a:ext cx="822960" cy="822960"/>
          </a:xfrm>
          <a:prstGeom prst="ellipse">
            <a:avLst/>
          </a:prstGeom>
          <a:solidFill>
            <a:schemeClr val="accent1"/>
          </a:solidFill>
          <a:ln/>
        </p:spPr>
      </p:sp>
      <p:pic>
        <p:nvPicPr>
          <p:cNvPr id="11" name="Unusually large payments icon" descr="Unusually large payments icon"/>
          <p:cNvPicPr>
            <a:picLocks noChangeAspect="1"/>
          </p:cNvPicPr>
          <p:nvPr/>
        </p:nvPicPr>
        <p:blipFill>
          <a:blip r:embed="rId4"/>
          <a:stretch>
            <a:fillRect/>
          </a:stretch>
        </p:blipFill>
        <p:spPr>
          <a:xfrm>
            <a:off x="4902708" y="2499970"/>
            <a:ext cx="395021" cy="395021"/>
          </a:xfrm>
          <a:prstGeom prst="rect">
            <a:avLst/>
          </a:prstGeom>
        </p:spPr>
      </p:pic>
      <p:sp>
        <p:nvSpPr>
          <p:cNvPr id="12" name="Unusually large payments"/>
          <p:cNvSpPr txBox="1"/>
          <p:nvPr/>
        </p:nvSpPr>
        <p:spPr>
          <a:xfrm>
            <a:off x="4688738" y="3291840"/>
            <a:ext cx="2814218" cy="365760"/>
          </a:xfrm>
          <a:prstGeom prst="rect">
            <a:avLst/>
          </a:prstGeom>
          <a:noFill/>
          <a:ln/>
        </p:spPr>
        <p:txBody>
          <a:bodyPr wrap="square" lIns="0" tIns="0" rIns="0" bIns="0" rtlCol="0" anchor="t"/>
          <a:lstStyle/>
          <a:p>
            <a:pPr marL="0" indent="0">
              <a:buNone/>
            </a:pPr>
            <a:r>
              <a:rPr lang="en-US" sz="2000" b="1" dirty="0">
                <a:solidFill>
                  <a:schemeClr val="tx1"/>
                </a:solidFill>
              </a:rPr>
              <a:t>Unusually large payments</a:t>
            </a:r>
            <a:endParaRPr lang="en-US" sz="2000" dirty="0"/>
          </a:p>
        </p:txBody>
      </p:sp>
      <p:sp>
        <p:nvSpPr>
          <p:cNvPr id="13" name="Unusually large payments text"/>
          <p:cNvSpPr txBox="1"/>
          <p:nvPr/>
        </p:nvSpPr>
        <p:spPr>
          <a:xfrm>
            <a:off x="4688738" y="3749040"/>
            <a:ext cx="2814218" cy="822960"/>
          </a:xfrm>
          <a:prstGeom prst="rect">
            <a:avLst/>
          </a:prstGeom>
          <a:noFill/>
          <a:ln/>
        </p:spPr>
        <p:txBody>
          <a:bodyPr wrap="square" lIns="0" tIns="0" rIns="0" bIns="0" rtlCol="0" anchor="t"/>
          <a:lstStyle/>
          <a:p>
            <a:pPr marL="0" indent="0">
              <a:buNone/>
            </a:pPr>
            <a:r>
              <a:rPr lang="en-US" sz="1500" dirty="0">
                <a:solidFill>
                  <a:schemeClr val="tx1"/>
                </a:solidFill>
              </a:rPr>
              <a:t>A single high-value transaction can slip through without a systematic check.</a:t>
            </a:r>
            <a:endParaRPr lang="en-US" sz="1500" dirty="0"/>
          </a:p>
        </p:txBody>
      </p:sp>
      <p:sp>
        <p:nvSpPr>
          <p:cNvPr id="14" name="Problem card 3"/>
          <p:cNvSpPr/>
          <p:nvPr/>
        </p:nvSpPr>
        <p:spPr>
          <a:xfrm>
            <a:off x="8188757" y="1965960"/>
            <a:ext cx="3454298" cy="2743200"/>
          </a:xfrm>
          <a:prstGeom prst="roundRect">
            <a:avLst>
              <a:gd name="adj" fmla="val 3333"/>
            </a:avLst>
          </a:prstGeom>
          <a:solidFill>
            <a:schemeClr val="bg2"/>
          </a:solidFill>
          <a:ln/>
          <a:effectLst>
            <a:outerShdw blurRad="101600" dist="25400" dir="5400000" algn="bl" rotWithShape="0">
              <a:srgbClr val="0B1F3A">
                <a:alpha val="12000"/>
              </a:srgbClr>
            </a:outerShdw>
          </a:effectLst>
        </p:spPr>
      </p:sp>
      <p:sp>
        <p:nvSpPr>
          <p:cNvPr id="15" name="Suspicious patterns badge"/>
          <p:cNvSpPr/>
          <p:nvPr/>
        </p:nvSpPr>
        <p:spPr>
          <a:xfrm>
            <a:off x="8508797" y="2286000"/>
            <a:ext cx="822960" cy="822960"/>
          </a:xfrm>
          <a:prstGeom prst="ellipse">
            <a:avLst/>
          </a:prstGeom>
          <a:solidFill>
            <a:schemeClr val="accent1"/>
          </a:solidFill>
          <a:ln/>
        </p:spPr>
      </p:sp>
      <p:pic>
        <p:nvPicPr>
          <p:cNvPr id="16" name="Suspicious patterns icon" descr="Suspicious patterns icon"/>
          <p:cNvPicPr>
            <a:picLocks noChangeAspect="1"/>
          </p:cNvPicPr>
          <p:nvPr/>
        </p:nvPicPr>
        <p:blipFill>
          <a:blip r:embed="rId5"/>
          <a:stretch>
            <a:fillRect/>
          </a:stretch>
        </p:blipFill>
        <p:spPr>
          <a:xfrm>
            <a:off x="8722766" y="2499970"/>
            <a:ext cx="395021" cy="395021"/>
          </a:xfrm>
          <a:prstGeom prst="rect">
            <a:avLst/>
          </a:prstGeom>
        </p:spPr>
      </p:pic>
      <p:sp>
        <p:nvSpPr>
          <p:cNvPr id="17" name="Suspicious patterns"/>
          <p:cNvSpPr txBox="1"/>
          <p:nvPr/>
        </p:nvSpPr>
        <p:spPr>
          <a:xfrm>
            <a:off x="8508797" y="3291840"/>
            <a:ext cx="2814218" cy="365760"/>
          </a:xfrm>
          <a:prstGeom prst="rect">
            <a:avLst/>
          </a:prstGeom>
          <a:noFill/>
          <a:ln/>
        </p:spPr>
        <p:txBody>
          <a:bodyPr wrap="square" lIns="0" tIns="0" rIns="0" bIns="0" rtlCol="0" anchor="t"/>
          <a:lstStyle/>
          <a:p>
            <a:pPr marL="0" indent="0">
              <a:buNone/>
            </a:pPr>
            <a:r>
              <a:rPr lang="en-US" sz="2000" b="1" dirty="0">
                <a:solidFill>
                  <a:schemeClr val="tx1"/>
                </a:solidFill>
              </a:rPr>
              <a:t>Suspicious patterns</a:t>
            </a:r>
            <a:endParaRPr lang="en-US" sz="2000" dirty="0"/>
          </a:p>
        </p:txBody>
      </p:sp>
      <p:sp>
        <p:nvSpPr>
          <p:cNvPr id="18" name="Suspicious patterns text"/>
          <p:cNvSpPr txBox="1"/>
          <p:nvPr/>
        </p:nvSpPr>
        <p:spPr>
          <a:xfrm>
            <a:off x="8508797" y="3749040"/>
            <a:ext cx="2814218" cy="822960"/>
          </a:xfrm>
          <a:prstGeom prst="rect">
            <a:avLst/>
          </a:prstGeom>
          <a:noFill/>
          <a:ln/>
        </p:spPr>
        <p:txBody>
          <a:bodyPr wrap="square" lIns="0" tIns="0" rIns="0" bIns="0" rtlCol="0" anchor="t"/>
          <a:lstStyle/>
          <a:p>
            <a:pPr marL="0" indent="0">
              <a:buNone/>
            </a:pPr>
            <a:r>
              <a:rPr lang="en-US" sz="1500" dirty="0">
                <a:solidFill>
                  <a:schemeClr val="tx1"/>
                </a:solidFill>
              </a:rPr>
              <a:t>Bursts of activity by one account are hard to spot across many records.</a:t>
            </a:r>
            <a:endParaRPr lang="en-US" sz="1500" dirty="0"/>
          </a:p>
        </p:txBody>
      </p:sp>
      <p:sp>
        <p:nvSpPr>
          <p:cNvPr id="19" name="Takeaway band"/>
          <p:cNvSpPr/>
          <p:nvPr/>
        </p:nvSpPr>
        <p:spPr>
          <a:xfrm>
            <a:off x="548640" y="5029200"/>
            <a:ext cx="11094415" cy="1097280"/>
          </a:xfrm>
          <a:prstGeom prst="roundRect">
            <a:avLst>
              <a:gd name="adj" fmla="val 8333"/>
            </a:avLst>
          </a:prstGeom>
          <a:solidFill>
            <a:schemeClr val="tx1"/>
          </a:solidFill>
          <a:ln/>
        </p:spPr>
      </p:sp>
      <p:sp>
        <p:nvSpPr>
          <p:cNvPr id="20" name="Prioritize badge"/>
          <p:cNvSpPr/>
          <p:nvPr/>
        </p:nvSpPr>
        <p:spPr>
          <a:xfrm>
            <a:off x="868680" y="5303520"/>
            <a:ext cx="548640" cy="548640"/>
          </a:xfrm>
          <a:prstGeom prst="ellipse">
            <a:avLst/>
          </a:prstGeom>
          <a:solidFill>
            <a:schemeClr val="accent1"/>
          </a:solidFill>
          <a:ln/>
        </p:spPr>
      </p:sp>
      <p:pic>
        <p:nvPicPr>
          <p:cNvPr id="21" name="Prioritize icon" descr="Prioritize icon"/>
          <p:cNvPicPr>
            <a:picLocks noChangeAspect="1"/>
          </p:cNvPicPr>
          <p:nvPr/>
        </p:nvPicPr>
        <p:blipFill>
          <a:blip r:embed="rId6"/>
          <a:stretch>
            <a:fillRect/>
          </a:stretch>
        </p:blipFill>
        <p:spPr>
          <a:xfrm>
            <a:off x="1011326" y="5446166"/>
            <a:ext cx="263347" cy="263347"/>
          </a:xfrm>
          <a:prstGeom prst="rect">
            <a:avLst/>
          </a:prstGeom>
        </p:spPr>
      </p:pic>
      <p:sp>
        <p:nvSpPr>
          <p:cNvPr id="22" name="Takeaway"/>
          <p:cNvSpPr txBox="1"/>
          <p:nvPr/>
        </p:nvSpPr>
        <p:spPr>
          <a:xfrm>
            <a:off x="1737360" y="5029200"/>
            <a:ext cx="9631375" cy="1097280"/>
          </a:xfrm>
          <a:prstGeom prst="rect">
            <a:avLst/>
          </a:prstGeom>
          <a:noFill/>
          <a:ln/>
        </p:spPr>
        <p:txBody>
          <a:bodyPr wrap="square" lIns="0" tIns="0" rIns="0" bIns="0" rtlCol="0" anchor="ctr"/>
          <a:lstStyle/>
          <a:p>
            <a:pPr marL="0" indent="0">
              <a:buNone/>
            </a:pPr>
            <a:r>
              <a:rPr lang="en-US" sz="2000" b="1" dirty="0">
                <a:solidFill>
                  <a:schemeClr val="bg1"/>
                </a:solidFill>
              </a:rPr>
              <a:t>A simple automated screening system can help prioritize transactions for further investigation.</a:t>
            </a:r>
            <a:endParaRPr lang="en-US" sz="2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Solution: SQL Rules That Flag for Review</a:t>
            </a:r>
            <a:endParaRPr lang="en-US" sz="3600" dirty="0"/>
          </a:p>
        </p:txBody>
      </p:sp>
      <p:sp>
        <p:nvSpPr>
          <p:cNvPr id="3" name="Step card 1"/>
          <p:cNvSpPr/>
          <p:nvPr/>
        </p:nvSpPr>
        <p:spPr>
          <a:xfrm>
            <a:off x="548640" y="1508760"/>
            <a:ext cx="1889699" cy="2834640"/>
          </a:xfrm>
          <a:prstGeom prst="roundRect">
            <a:avLst>
              <a:gd name="adj" fmla="val 4839"/>
            </a:avLst>
          </a:prstGeom>
          <a:solidFill>
            <a:schemeClr val="bg2"/>
          </a:solidFill>
          <a:ln/>
          <a:effectLst>
            <a:outerShdw blurRad="101600" dist="25400" dir="5400000" algn="bl" rotWithShape="0">
              <a:srgbClr val="0B1F3A">
                <a:alpha val="12000"/>
              </a:srgbClr>
            </a:outerShdw>
          </a:effectLst>
        </p:spPr>
      </p:sp>
      <p:sp>
        <p:nvSpPr>
          <p:cNvPr id="4" name="Transaction Data badge"/>
          <p:cNvSpPr/>
          <p:nvPr/>
        </p:nvSpPr>
        <p:spPr>
          <a:xfrm>
            <a:off x="1082010" y="1783080"/>
            <a:ext cx="822960" cy="822960"/>
          </a:xfrm>
          <a:prstGeom prst="ellipse">
            <a:avLst/>
          </a:prstGeom>
          <a:solidFill>
            <a:schemeClr val="accent1"/>
          </a:solidFill>
          <a:ln/>
        </p:spPr>
      </p:sp>
      <p:pic>
        <p:nvPicPr>
          <p:cNvPr id="5" name="Transaction Data icon" descr="Transaction Data icon"/>
          <p:cNvPicPr>
            <a:picLocks noChangeAspect="1"/>
          </p:cNvPicPr>
          <p:nvPr/>
        </p:nvPicPr>
        <p:blipFill>
          <a:blip r:embed="rId3"/>
          <a:stretch>
            <a:fillRect/>
          </a:stretch>
        </p:blipFill>
        <p:spPr>
          <a:xfrm>
            <a:off x="1295979" y="1997050"/>
            <a:ext cx="395021" cy="395021"/>
          </a:xfrm>
          <a:prstGeom prst="rect">
            <a:avLst/>
          </a:prstGeom>
        </p:spPr>
      </p:pic>
      <p:sp>
        <p:nvSpPr>
          <p:cNvPr id="6" name="Transaction Data"/>
          <p:cNvSpPr txBox="1"/>
          <p:nvPr/>
        </p:nvSpPr>
        <p:spPr>
          <a:xfrm>
            <a:off x="640080" y="2788920"/>
            <a:ext cx="1706819" cy="640080"/>
          </a:xfrm>
          <a:prstGeom prst="rect">
            <a:avLst/>
          </a:prstGeom>
          <a:noFill/>
          <a:ln/>
        </p:spPr>
        <p:txBody>
          <a:bodyPr wrap="square" lIns="0" tIns="0" rIns="0" bIns="0" rtlCol="0" anchor="ctr"/>
          <a:lstStyle/>
          <a:p>
            <a:pPr marL="0" indent="0" algn="ctr">
              <a:buNone/>
            </a:pPr>
            <a:r>
              <a:rPr lang="en-US" sz="1700" b="1" dirty="0">
                <a:solidFill>
                  <a:schemeClr val="tx1"/>
                </a:solidFill>
              </a:rPr>
              <a:t>Transaction Data</a:t>
            </a:r>
            <a:endParaRPr lang="en-US" sz="1700" dirty="0"/>
          </a:p>
        </p:txBody>
      </p:sp>
      <p:sp>
        <p:nvSpPr>
          <p:cNvPr id="7" name="Transaction Data detail"/>
          <p:cNvSpPr txBox="1"/>
          <p:nvPr/>
        </p:nvSpPr>
        <p:spPr>
          <a:xfrm>
            <a:off x="640080" y="3474720"/>
            <a:ext cx="1706819" cy="731520"/>
          </a:xfrm>
          <a:prstGeom prst="rect">
            <a:avLst/>
          </a:prstGeom>
          <a:noFill/>
          <a:ln/>
        </p:spPr>
        <p:txBody>
          <a:bodyPr wrap="square" lIns="0" tIns="0" rIns="0" bIns="0" rtlCol="0" anchor="t"/>
          <a:lstStyle/>
          <a:p>
            <a:pPr marL="0" indent="0" algn="ctr">
              <a:buNone/>
            </a:pPr>
            <a:r>
              <a:rPr lang="en-US" sz="1300" dirty="0">
                <a:solidFill>
                  <a:schemeClr val="accent6"/>
                </a:solidFill>
              </a:rPr>
              <a:t>TRANSACTIONS table</a:t>
            </a:r>
            <a:endParaRPr lang="en-US" sz="1300" dirty="0"/>
          </a:p>
          <a:p>
            <a:pPr marL="0" indent="0" algn="ctr">
              <a:buNone/>
            </a:pPr>
            <a:r>
              <a:rPr lang="en-US" sz="1300" dirty="0">
                <a:solidFill>
                  <a:schemeClr val="accent6"/>
                </a:solidFill>
              </a:rPr>
              <a:t>(9 sample rows)</a:t>
            </a:r>
            <a:endParaRPr lang="en-US" sz="1300" dirty="0"/>
          </a:p>
        </p:txBody>
      </p:sp>
      <p:sp>
        <p:nvSpPr>
          <p:cNvPr id="8" name="Arrow"/>
          <p:cNvSpPr/>
          <p:nvPr/>
        </p:nvSpPr>
        <p:spPr>
          <a:xfrm>
            <a:off x="2497775" y="2788920"/>
            <a:ext cx="292608" cy="292608"/>
          </a:xfrm>
          <a:prstGeom prst="rightArrow">
            <a:avLst/>
          </a:prstGeom>
          <a:solidFill>
            <a:schemeClr val="accent1"/>
          </a:solidFill>
          <a:ln/>
        </p:spPr>
      </p:sp>
      <p:sp>
        <p:nvSpPr>
          <p:cNvPr id="9" name="Step card 2"/>
          <p:cNvSpPr/>
          <p:nvPr/>
        </p:nvSpPr>
        <p:spPr>
          <a:xfrm>
            <a:off x="2849819" y="1508760"/>
            <a:ext cx="1889699" cy="2834640"/>
          </a:xfrm>
          <a:prstGeom prst="roundRect">
            <a:avLst>
              <a:gd name="adj" fmla="val 4839"/>
            </a:avLst>
          </a:prstGeom>
          <a:solidFill>
            <a:schemeClr val="bg2"/>
          </a:solidFill>
          <a:ln/>
          <a:effectLst>
            <a:outerShdw blurRad="101600" dist="25400" dir="5400000" algn="bl" rotWithShape="0">
              <a:srgbClr val="0B1F3A">
                <a:alpha val="12000"/>
              </a:srgbClr>
            </a:outerShdw>
          </a:effectLst>
        </p:spPr>
      </p:sp>
      <p:sp>
        <p:nvSpPr>
          <p:cNvPr id="10" name="Exasol Database badge"/>
          <p:cNvSpPr/>
          <p:nvPr/>
        </p:nvSpPr>
        <p:spPr>
          <a:xfrm>
            <a:off x="3383189" y="1783080"/>
            <a:ext cx="822960" cy="822960"/>
          </a:xfrm>
          <a:prstGeom prst="ellipse">
            <a:avLst/>
          </a:prstGeom>
          <a:solidFill>
            <a:schemeClr val="accent1"/>
          </a:solidFill>
          <a:ln/>
        </p:spPr>
      </p:sp>
      <p:pic>
        <p:nvPicPr>
          <p:cNvPr id="11" name="Exasol Database icon" descr="Exasol Database icon"/>
          <p:cNvPicPr>
            <a:picLocks noChangeAspect="1"/>
          </p:cNvPicPr>
          <p:nvPr/>
        </p:nvPicPr>
        <p:blipFill>
          <a:blip r:embed="rId4"/>
          <a:stretch>
            <a:fillRect/>
          </a:stretch>
        </p:blipFill>
        <p:spPr>
          <a:xfrm>
            <a:off x="3597158" y="1997050"/>
            <a:ext cx="395021" cy="395021"/>
          </a:xfrm>
          <a:prstGeom prst="rect">
            <a:avLst/>
          </a:prstGeom>
        </p:spPr>
      </p:pic>
      <p:sp>
        <p:nvSpPr>
          <p:cNvPr id="12" name="Exasol Database"/>
          <p:cNvSpPr txBox="1"/>
          <p:nvPr/>
        </p:nvSpPr>
        <p:spPr>
          <a:xfrm>
            <a:off x="2941259" y="2788920"/>
            <a:ext cx="1706819" cy="640080"/>
          </a:xfrm>
          <a:prstGeom prst="rect">
            <a:avLst/>
          </a:prstGeom>
          <a:noFill/>
          <a:ln/>
        </p:spPr>
        <p:txBody>
          <a:bodyPr wrap="square" lIns="0" tIns="0" rIns="0" bIns="0" rtlCol="0" anchor="ctr"/>
          <a:lstStyle/>
          <a:p>
            <a:pPr marL="0" indent="0" algn="ctr">
              <a:buNone/>
            </a:pPr>
            <a:r>
              <a:rPr lang="en-US" sz="1700" b="1" dirty="0">
                <a:solidFill>
                  <a:schemeClr val="tx1"/>
                </a:solidFill>
              </a:rPr>
              <a:t>Exasol Database</a:t>
            </a:r>
            <a:endParaRPr lang="en-US" sz="1700" dirty="0"/>
          </a:p>
        </p:txBody>
      </p:sp>
      <p:sp>
        <p:nvSpPr>
          <p:cNvPr id="13" name="Exasol Database detail"/>
          <p:cNvSpPr txBox="1"/>
          <p:nvPr/>
        </p:nvSpPr>
        <p:spPr>
          <a:xfrm>
            <a:off x="2941259" y="3474720"/>
            <a:ext cx="1706819" cy="731520"/>
          </a:xfrm>
          <a:prstGeom prst="rect">
            <a:avLst/>
          </a:prstGeom>
          <a:noFill/>
          <a:ln/>
        </p:spPr>
        <p:txBody>
          <a:bodyPr wrap="square" lIns="0" tIns="0" rIns="0" bIns="0" rtlCol="0" anchor="t"/>
          <a:lstStyle/>
          <a:p>
            <a:pPr marL="0" indent="0" algn="ctr">
              <a:buNone/>
            </a:pPr>
            <a:r>
              <a:rPr lang="en-US" sz="1300" dirty="0">
                <a:solidFill>
                  <a:schemeClr val="accent6"/>
                </a:solidFill>
              </a:rPr>
              <a:t>Schema</a:t>
            </a:r>
            <a:endParaRPr lang="en-US" sz="1300" dirty="0"/>
          </a:p>
          <a:p>
            <a:pPr marL="0" indent="0" algn="ctr">
              <a:buNone/>
            </a:pPr>
            <a:r>
              <a:rPr lang="en-US" sz="1300" dirty="0">
                <a:solidFill>
                  <a:schemeClr val="accent6"/>
                </a:solidFill>
              </a:rPr>
              <a:t>TRANSACTIONGUARD</a:t>
            </a:r>
            <a:endParaRPr lang="en-US" sz="1300" dirty="0"/>
          </a:p>
        </p:txBody>
      </p:sp>
      <p:sp>
        <p:nvSpPr>
          <p:cNvPr id="14" name="Arrow"/>
          <p:cNvSpPr/>
          <p:nvPr/>
        </p:nvSpPr>
        <p:spPr>
          <a:xfrm>
            <a:off x="4798954" y="2788920"/>
            <a:ext cx="292608" cy="292608"/>
          </a:xfrm>
          <a:prstGeom prst="rightArrow">
            <a:avLst/>
          </a:prstGeom>
          <a:solidFill>
            <a:schemeClr val="accent1"/>
          </a:solidFill>
          <a:ln/>
        </p:spPr>
      </p:sp>
      <p:sp>
        <p:nvSpPr>
          <p:cNvPr id="15" name="Step card 3"/>
          <p:cNvSpPr/>
          <p:nvPr/>
        </p:nvSpPr>
        <p:spPr>
          <a:xfrm>
            <a:off x="5150998" y="1508760"/>
            <a:ext cx="1889699" cy="2834640"/>
          </a:xfrm>
          <a:prstGeom prst="roundRect">
            <a:avLst>
              <a:gd name="adj" fmla="val 4839"/>
            </a:avLst>
          </a:prstGeom>
          <a:solidFill>
            <a:schemeClr val="bg2"/>
          </a:solidFill>
          <a:ln/>
          <a:effectLst>
            <a:outerShdw blurRad="101600" dist="25400" dir="5400000" algn="bl" rotWithShape="0">
              <a:srgbClr val="0B1F3A">
                <a:alpha val="12000"/>
              </a:srgbClr>
            </a:outerShdw>
          </a:effectLst>
        </p:spPr>
      </p:sp>
      <p:sp>
        <p:nvSpPr>
          <p:cNvPr id="16" name="SQL Risk Rules badge"/>
          <p:cNvSpPr/>
          <p:nvPr/>
        </p:nvSpPr>
        <p:spPr>
          <a:xfrm>
            <a:off x="5684368" y="1783080"/>
            <a:ext cx="822960" cy="822960"/>
          </a:xfrm>
          <a:prstGeom prst="ellipse">
            <a:avLst/>
          </a:prstGeom>
          <a:solidFill>
            <a:schemeClr val="accent1"/>
          </a:solidFill>
          <a:ln/>
        </p:spPr>
      </p:sp>
      <p:pic>
        <p:nvPicPr>
          <p:cNvPr id="17" name="SQL Risk Rules icon" descr="SQL Risk Rules icon"/>
          <p:cNvPicPr>
            <a:picLocks noChangeAspect="1"/>
          </p:cNvPicPr>
          <p:nvPr/>
        </p:nvPicPr>
        <p:blipFill>
          <a:blip r:embed="rId5"/>
          <a:stretch>
            <a:fillRect/>
          </a:stretch>
        </p:blipFill>
        <p:spPr>
          <a:xfrm>
            <a:off x="5898337" y="1997050"/>
            <a:ext cx="395021" cy="395021"/>
          </a:xfrm>
          <a:prstGeom prst="rect">
            <a:avLst/>
          </a:prstGeom>
        </p:spPr>
      </p:pic>
      <p:sp>
        <p:nvSpPr>
          <p:cNvPr id="18" name="SQL Risk Rules"/>
          <p:cNvSpPr txBox="1"/>
          <p:nvPr/>
        </p:nvSpPr>
        <p:spPr>
          <a:xfrm>
            <a:off x="5242438" y="2788920"/>
            <a:ext cx="1706819" cy="640080"/>
          </a:xfrm>
          <a:prstGeom prst="rect">
            <a:avLst/>
          </a:prstGeom>
          <a:noFill/>
          <a:ln/>
        </p:spPr>
        <p:txBody>
          <a:bodyPr wrap="square" lIns="0" tIns="0" rIns="0" bIns="0" rtlCol="0" anchor="ctr"/>
          <a:lstStyle/>
          <a:p>
            <a:pPr marL="0" indent="0" algn="ctr">
              <a:buNone/>
            </a:pPr>
            <a:r>
              <a:rPr lang="en-US" sz="1700" b="1" dirty="0">
                <a:solidFill>
                  <a:schemeClr val="tx1"/>
                </a:solidFill>
              </a:rPr>
              <a:t>SQL Risk Rules</a:t>
            </a:r>
            <a:endParaRPr lang="en-US" sz="1700" dirty="0"/>
          </a:p>
        </p:txBody>
      </p:sp>
      <p:sp>
        <p:nvSpPr>
          <p:cNvPr id="19" name="SQL Risk Rules detail"/>
          <p:cNvSpPr txBox="1"/>
          <p:nvPr/>
        </p:nvSpPr>
        <p:spPr>
          <a:xfrm>
            <a:off x="5242438" y="3474720"/>
            <a:ext cx="1706819" cy="731520"/>
          </a:xfrm>
          <a:prstGeom prst="rect">
            <a:avLst/>
          </a:prstGeom>
          <a:noFill/>
          <a:ln/>
        </p:spPr>
        <p:txBody>
          <a:bodyPr wrap="square" lIns="0" tIns="0" rIns="0" bIns="0" rtlCol="0" anchor="t"/>
          <a:lstStyle/>
          <a:p>
            <a:pPr marL="0" indent="0" algn="ctr">
              <a:buNone/>
            </a:pPr>
            <a:r>
              <a:rPr lang="en-US" sz="1300" dirty="0">
                <a:solidFill>
                  <a:schemeClr val="accent6"/>
                </a:solidFill>
              </a:rPr>
              <a:t>Duplicate · High value ·</a:t>
            </a:r>
            <a:endParaRPr lang="en-US" sz="1300" dirty="0"/>
          </a:p>
          <a:p>
            <a:pPr marL="0" indent="0" algn="ctr">
              <a:buNone/>
            </a:pPr>
            <a:r>
              <a:rPr lang="en-US" sz="1300" dirty="0">
                <a:solidFill>
                  <a:schemeClr val="accent6"/>
                </a:solidFill>
              </a:rPr>
              <a:t>Daily frequency</a:t>
            </a:r>
            <a:endParaRPr lang="en-US" sz="1300" dirty="0"/>
          </a:p>
        </p:txBody>
      </p:sp>
      <p:sp>
        <p:nvSpPr>
          <p:cNvPr id="20" name="Arrow"/>
          <p:cNvSpPr/>
          <p:nvPr/>
        </p:nvSpPr>
        <p:spPr>
          <a:xfrm>
            <a:off x="7100133" y="2788920"/>
            <a:ext cx="292608" cy="292608"/>
          </a:xfrm>
          <a:prstGeom prst="rightArrow">
            <a:avLst/>
          </a:prstGeom>
          <a:solidFill>
            <a:schemeClr val="accent1"/>
          </a:solidFill>
          <a:ln/>
        </p:spPr>
      </p:sp>
      <p:sp>
        <p:nvSpPr>
          <p:cNvPr id="21" name="Step card 4"/>
          <p:cNvSpPr/>
          <p:nvPr/>
        </p:nvSpPr>
        <p:spPr>
          <a:xfrm>
            <a:off x="7452177" y="1508760"/>
            <a:ext cx="1889699" cy="2834640"/>
          </a:xfrm>
          <a:prstGeom prst="roundRect">
            <a:avLst>
              <a:gd name="adj" fmla="val 4839"/>
            </a:avLst>
          </a:prstGeom>
          <a:solidFill>
            <a:schemeClr val="bg2"/>
          </a:solidFill>
          <a:ln/>
          <a:effectLst>
            <a:outerShdw blurRad="101600" dist="25400" dir="5400000" algn="bl" rotWithShape="0">
              <a:srgbClr val="0B1F3A">
                <a:alpha val="12000"/>
              </a:srgbClr>
            </a:outerShdw>
          </a:effectLst>
        </p:spPr>
      </p:sp>
      <p:sp>
        <p:nvSpPr>
          <p:cNvPr id="22" name="Risk Classification badge"/>
          <p:cNvSpPr/>
          <p:nvPr/>
        </p:nvSpPr>
        <p:spPr>
          <a:xfrm>
            <a:off x="7985547" y="1783080"/>
            <a:ext cx="822960" cy="822960"/>
          </a:xfrm>
          <a:prstGeom prst="ellipse">
            <a:avLst/>
          </a:prstGeom>
          <a:solidFill>
            <a:schemeClr val="accent2"/>
          </a:solidFill>
          <a:ln/>
        </p:spPr>
      </p:sp>
      <p:pic>
        <p:nvPicPr>
          <p:cNvPr id="23" name="Risk Classification icon" descr="Risk Classification icon"/>
          <p:cNvPicPr>
            <a:picLocks noChangeAspect="1"/>
          </p:cNvPicPr>
          <p:nvPr/>
        </p:nvPicPr>
        <p:blipFill>
          <a:blip r:embed="rId6"/>
          <a:stretch>
            <a:fillRect/>
          </a:stretch>
        </p:blipFill>
        <p:spPr>
          <a:xfrm>
            <a:off x="8199516" y="1997050"/>
            <a:ext cx="395021" cy="395021"/>
          </a:xfrm>
          <a:prstGeom prst="rect">
            <a:avLst/>
          </a:prstGeom>
        </p:spPr>
      </p:pic>
      <p:sp>
        <p:nvSpPr>
          <p:cNvPr id="24" name="Risk Classification"/>
          <p:cNvSpPr txBox="1"/>
          <p:nvPr/>
        </p:nvSpPr>
        <p:spPr>
          <a:xfrm>
            <a:off x="7543617" y="2788920"/>
            <a:ext cx="1706819" cy="640080"/>
          </a:xfrm>
          <a:prstGeom prst="rect">
            <a:avLst/>
          </a:prstGeom>
          <a:noFill/>
          <a:ln/>
        </p:spPr>
        <p:txBody>
          <a:bodyPr wrap="square" lIns="0" tIns="0" rIns="0" bIns="0" rtlCol="0" anchor="ctr"/>
          <a:lstStyle/>
          <a:p>
            <a:pPr marL="0" indent="0" algn="ctr">
              <a:buNone/>
            </a:pPr>
            <a:r>
              <a:rPr lang="en-US" sz="1700" b="1" dirty="0">
                <a:solidFill>
                  <a:schemeClr val="tx1"/>
                </a:solidFill>
              </a:rPr>
              <a:t>Risk Classification</a:t>
            </a:r>
            <a:endParaRPr lang="en-US" sz="1700" dirty="0"/>
          </a:p>
        </p:txBody>
      </p:sp>
      <p:sp>
        <p:nvSpPr>
          <p:cNvPr id="25" name="Risk Classification detail"/>
          <p:cNvSpPr txBox="1"/>
          <p:nvPr/>
        </p:nvSpPr>
        <p:spPr>
          <a:xfrm>
            <a:off x="7543617" y="3474720"/>
            <a:ext cx="1706819" cy="731520"/>
          </a:xfrm>
          <a:prstGeom prst="rect">
            <a:avLst/>
          </a:prstGeom>
          <a:noFill/>
          <a:ln/>
        </p:spPr>
        <p:txBody>
          <a:bodyPr wrap="square" lIns="0" tIns="0" rIns="0" bIns="0" rtlCol="0" anchor="t"/>
          <a:lstStyle/>
          <a:p>
            <a:pPr marL="0" indent="0" algn="ctr">
              <a:buNone/>
            </a:pPr>
            <a:r>
              <a:rPr lang="en-US" sz="1300" dirty="0">
                <a:solidFill>
                  <a:schemeClr val="accent6"/>
                </a:solidFill>
              </a:rPr>
              <a:t>Score, severity,</a:t>
            </a:r>
            <a:endParaRPr lang="en-US" sz="1300" dirty="0"/>
          </a:p>
          <a:p>
            <a:pPr marL="0" indent="0" algn="ctr">
              <a:buNone/>
            </a:pPr>
            <a:r>
              <a:rPr lang="en-US" sz="1300" dirty="0">
                <a:solidFill>
                  <a:schemeClr val="accent6"/>
                </a:solidFill>
              </a:rPr>
              <a:t>REVIEW / NORMAL</a:t>
            </a:r>
            <a:endParaRPr lang="en-US" sz="1300" dirty="0"/>
          </a:p>
        </p:txBody>
      </p:sp>
      <p:sp>
        <p:nvSpPr>
          <p:cNvPr id="26" name="Arrow"/>
          <p:cNvSpPr/>
          <p:nvPr/>
        </p:nvSpPr>
        <p:spPr>
          <a:xfrm>
            <a:off x="9401312" y="2788920"/>
            <a:ext cx="292608" cy="292608"/>
          </a:xfrm>
          <a:prstGeom prst="rightArrow">
            <a:avLst/>
          </a:prstGeom>
          <a:solidFill>
            <a:schemeClr val="accent1"/>
          </a:solidFill>
          <a:ln/>
        </p:spPr>
      </p:sp>
      <p:sp>
        <p:nvSpPr>
          <p:cNvPr id="27" name="Step card 5"/>
          <p:cNvSpPr/>
          <p:nvPr/>
        </p:nvSpPr>
        <p:spPr>
          <a:xfrm>
            <a:off x="9753356" y="1508760"/>
            <a:ext cx="1889699" cy="2834640"/>
          </a:xfrm>
          <a:prstGeom prst="roundRect">
            <a:avLst>
              <a:gd name="adj" fmla="val 4839"/>
            </a:avLst>
          </a:prstGeom>
          <a:solidFill>
            <a:schemeClr val="bg2"/>
          </a:solidFill>
          <a:ln/>
          <a:effectLst>
            <a:outerShdw blurRad="101600" dist="25400" dir="5400000" algn="bl" rotWithShape="0">
              <a:srgbClr val="0B1F3A">
                <a:alpha val="12000"/>
              </a:srgbClr>
            </a:outerShdw>
          </a:effectLst>
        </p:spPr>
      </p:sp>
      <p:sp>
        <p:nvSpPr>
          <p:cNvPr id="28" name="Results and Summary badge"/>
          <p:cNvSpPr/>
          <p:nvPr/>
        </p:nvSpPr>
        <p:spPr>
          <a:xfrm>
            <a:off x="10286726" y="1783080"/>
            <a:ext cx="822960" cy="822960"/>
          </a:xfrm>
          <a:prstGeom prst="ellipse">
            <a:avLst/>
          </a:prstGeom>
          <a:solidFill>
            <a:schemeClr val="accent1"/>
          </a:solidFill>
          <a:ln/>
        </p:spPr>
      </p:sp>
      <p:pic>
        <p:nvPicPr>
          <p:cNvPr id="29" name="Results and Summary icon" descr="Results and Summary icon"/>
          <p:cNvPicPr>
            <a:picLocks noChangeAspect="1"/>
          </p:cNvPicPr>
          <p:nvPr/>
        </p:nvPicPr>
        <p:blipFill>
          <a:blip r:embed="rId7"/>
          <a:stretch>
            <a:fillRect/>
          </a:stretch>
        </p:blipFill>
        <p:spPr>
          <a:xfrm>
            <a:off x="10500695" y="1997050"/>
            <a:ext cx="395021" cy="395021"/>
          </a:xfrm>
          <a:prstGeom prst="rect">
            <a:avLst/>
          </a:prstGeom>
        </p:spPr>
      </p:pic>
      <p:sp>
        <p:nvSpPr>
          <p:cNvPr id="30" name="Results and Summary"/>
          <p:cNvSpPr txBox="1"/>
          <p:nvPr/>
        </p:nvSpPr>
        <p:spPr>
          <a:xfrm>
            <a:off x="9844796" y="2788920"/>
            <a:ext cx="1706819" cy="640080"/>
          </a:xfrm>
          <a:prstGeom prst="rect">
            <a:avLst/>
          </a:prstGeom>
          <a:noFill/>
          <a:ln/>
        </p:spPr>
        <p:txBody>
          <a:bodyPr wrap="square" lIns="0" tIns="0" rIns="0" bIns="0" rtlCol="0" anchor="ctr"/>
          <a:lstStyle/>
          <a:p>
            <a:pPr marL="0" indent="0" algn="ctr">
              <a:buNone/>
            </a:pPr>
            <a:r>
              <a:rPr lang="en-US" sz="1700" b="1" dirty="0">
                <a:solidFill>
                  <a:schemeClr val="tx1"/>
                </a:solidFill>
              </a:rPr>
              <a:t>Results and Summary</a:t>
            </a:r>
            <a:endParaRPr lang="en-US" sz="1700" dirty="0"/>
          </a:p>
        </p:txBody>
      </p:sp>
      <p:sp>
        <p:nvSpPr>
          <p:cNvPr id="31" name="Results and Summary detail"/>
          <p:cNvSpPr txBox="1"/>
          <p:nvPr/>
        </p:nvSpPr>
        <p:spPr>
          <a:xfrm>
            <a:off x="9844796" y="3474720"/>
            <a:ext cx="1706819" cy="731520"/>
          </a:xfrm>
          <a:prstGeom prst="rect">
            <a:avLst/>
          </a:prstGeom>
          <a:noFill/>
          <a:ln/>
        </p:spPr>
        <p:txBody>
          <a:bodyPr wrap="square" lIns="0" tIns="0" rIns="0" bIns="0" rtlCol="0" anchor="t"/>
          <a:lstStyle/>
          <a:p>
            <a:pPr marL="0" indent="0" algn="ctr">
              <a:buNone/>
            </a:pPr>
            <a:r>
              <a:rPr lang="en-US" sz="1300" dirty="0">
                <a:solidFill>
                  <a:schemeClr val="accent6"/>
                </a:solidFill>
              </a:rPr>
              <a:t>Review queue and</a:t>
            </a:r>
            <a:endParaRPr lang="en-US" sz="1300" dirty="0"/>
          </a:p>
          <a:p>
            <a:pPr marL="0" indent="0" algn="ctr">
              <a:buNone/>
            </a:pPr>
            <a:r>
              <a:rPr lang="en-US" sz="1300" dirty="0">
                <a:solidFill>
                  <a:schemeClr val="accent6"/>
                </a:solidFill>
              </a:rPr>
              <a:t>summary views</a:t>
            </a:r>
            <a:endParaRPr lang="en-US" sz="1300" dirty="0"/>
          </a:p>
        </p:txBody>
      </p:sp>
      <p:sp>
        <p:nvSpPr>
          <p:cNvPr id="32" name="Pill REVIEW"/>
          <p:cNvSpPr/>
          <p:nvPr/>
        </p:nvSpPr>
        <p:spPr>
          <a:xfrm>
            <a:off x="548640" y="4709160"/>
            <a:ext cx="1188720" cy="384048"/>
          </a:xfrm>
          <a:prstGeom prst="roundRect">
            <a:avLst>
              <a:gd name="adj" fmla="val 50000"/>
            </a:avLst>
          </a:prstGeom>
          <a:solidFill>
            <a:schemeClr val="accent2"/>
          </a:solidFill>
          <a:ln/>
        </p:spPr>
        <p:txBody>
          <a:bodyPr wrap="square" lIns="0" tIns="0" rIns="0" bIns="0" rtlCol="0" anchor="ctr"/>
          <a:lstStyle/>
          <a:p>
            <a:pPr marL="0" indent="0" algn="ctr">
              <a:buNone/>
            </a:pPr>
            <a:r>
              <a:rPr lang="en-US" sz="1400" b="1" dirty="0">
                <a:solidFill>
                  <a:schemeClr val="bg1"/>
                </a:solidFill>
              </a:rPr>
              <a:t>REVIEW</a:t>
            </a:r>
            <a:endParaRPr lang="en-US" sz="1400" dirty="0"/>
          </a:p>
        </p:txBody>
      </p:sp>
      <p:sp>
        <p:nvSpPr>
          <p:cNvPr id="33" name="Review meaning"/>
          <p:cNvSpPr txBox="1"/>
          <p:nvPr/>
        </p:nvSpPr>
        <p:spPr>
          <a:xfrm>
            <a:off x="1920240" y="4709160"/>
            <a:ext cx="4023360" cy="384048"/>
          </a:xfrm>
          <a:prstGeom prst="rect">
            <a:avLst/>
          </a:prstGeom>
          <a:noFill/>
          <a:ln/>
        </p:spPr>
        <p:txBody>
          <a:bodyPr wrap="square" lIns="0" tIns="0" rIns="0" bIns="0" rtlCol="0" anchor="ctr"/>
          <a:lstStyle/>
          <a:p>
            <a:pPr marL="0" indent="0">
              <a:buNone/>
            </a:pPr>
            <a:r>
              <a:rPr lang="en-US" sz="1500" dirty="0">
                <a:solidFill>
                  <a:schemeClr val="tx1"/>
                </a:solidFill>
              </a:rPr>
              <a:t>Risk score above 0: flagged for human review</a:t>
            </a:r>
            <a:endParaRPr lang="en-US" sz="1500" dirty="0"/>
          </a:p>
        </p:txBody>
      </p:sp>
      <p:sp>
        <p:nvSpPr>
          <p:cNvPr id="34" name="Pill NORMAL"/>
          <p:cNvSpPr/>
          <p:nvPr/>
        </p:nvSpPr>
        <p:spPr>
          <a:xfrm>
            <a:off x="6309360" y="4709160"/>
            <a:ext cx="1188720" cy="384048"/>
          </a:xfrm>
          <a:prstGeom prst="roundRect">
            <a:avLst>
              <a:gd name="adj" fmla="val 50000"/>
            </a:avLst>
          </a:prstGeom>
          <a:solidFill>
            <a:schemeClr val="accent1"/>
          </a:solidFill>
          <a:ln/>
        </p:spPr>
        <p:txBody>
          <a:bodyPr wrap="square" lIns="0" tIns="0" rIns="0" bIns="0" rtlCol="0" anchor="ctr"/>
          <a:lstStyle/>
          <a:p>
            <a:pPr marL="0" indent="0" algn="ctr">
              <a:buNone/>
            </a:pPr>
            <a:r>
              <a:rPr lang="en-US" sz="1400" b="1" dirty="0">
                <a:solidFill>
                  <a:schemeClr val="bg1"/>
                </a:solidFill>
              </a:rPr>
              <a:t>NORMAL</a:t>
            </a:r>
            <a:endParaRPr lang="en-US" sz="1400" dirty="0"/>
          </a:p>
        </p:txBody>
      </p:sp>
      <p:sp>
        <p:nvSpPr>
          <p:cNvPr id="35" name="Normal meaning"/>
          <p:cNvSpPr txBox="1"/>
          <p:nvPr/>
        </p:nvSpPr>
        <p:spPr>
          <a:xfrm>
            <a:off x="7680960" y="4709160"/>
            <a:ext cx="3931920" cy="384048"/>
          </a:xfrm>
          <a:prstGeom prst="rect">
            <a:avLst/>
          </a:prstGeom>
          <a:noFill/>
          <a:ln/>
        </p:spPr>
        <p:txBody>
          <a:bodyPr wrap="square" lIns="0" tIns="0" rIns="0" bIns="0" rtlCol="0" anchor="ctr"/>
          <a:lstStyle/>
          <a:p>
            <a:pPr marL="0" indent="0">
              <a:buNone/>
            </a:pPr>
            <a:r>
              <a:rPr lang="en-US" sz="1500" dirty="0">
                <a:solidFill>
                  <a:schemeClr val="tx1"/>
                </a:solidFill>
              </a:rPr>
              <a:t>Risk score of 0: no rule triggered</a:t>
            </a:r>
            <a:endParaRPr lang="en-US" sz="1500" dirty="0"/>
          </a:p>
        </p:txBody>
      </p:sp>
      <p:sp>
        <p:nvSpPr>
          <p:cNvPr id="36" name="Caveat"/>
          <p:cNvSpPr txBox="1"/>
          <p:nvPr/>
        </p:nvSpPr>
        <p:spPr>
          <a:xfrm>
            <a:off x="548640" y="5486400"/>
            <a:ext cx="11094415" cy="365760"/>
          </a:xfrm>
          <a:prstGeom prst="rect">
            <a:avLst/>
          </a:prstGeom>
          <a:noFill/>
          <a:ln/>
        </p:spPr>
        <p:txBody>
          <a:bodyPr wrap="square" lIns="0" tIns="0" rIns="0" bIns="0" rtlCol="0" anchor="t"/>
          <a:lstStyle/>
          <a:p>
            <a:pPr marL="0" indent="0">
              <a:buNone/>
            </a:pPr>
            <a:r>
              <a:rPr lang="en-US" sz="1600" i="1" dirty="0">
                <a:solidFill>
                  <a:schemeClr val="accent6"/>
                </a:solidFill>
              </a:rPr>
              <a:t>Every result carries a plain-language reason. A REVIEW flag is not proof of fraud.</a:t>
            </a:r>
            <a:endParaRPr lang="en-US" sz="1600" dirty="0"/>
          </a:p>
        </p:txBody>
      </p:sp>
      <p:sp>
        <p:nvSpPr>
          <p:cNvPr id="3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System Architecture</a:t>
            </a:r>
            <a:endParaRPr lang="en-US" sz="3600" dirty="0"/>
          </a:p>
        </p:txBody>
      </p:sp>
      <p:sp>
        <p:nvSpPr>
          <p:cNvPr id="3" name="Legend implemented swatch"/>
          <p:cNvSpPr/>
          <p:nvPr/>
        </p:nvSpPr>
        <p:spPr>
          <a:xfrm>
            <a:off x="548640" y="1298448"/>
            <a:ext cx="347472" cy="201168"/>
          </a:xfrm>
          <a:prstGeom prst="roundRect">
            <a:avLst>
              <a:gd name="adj" fmla="val 18182"/>
            </a:avLst>
          </a:prstGeom>
          <a:solidFill>
            <a:schemeClr val="bg2"/>
          </a:solidFill>
          <a:ln w="22225">
            <a:solidFill>
              <a:schemeClr val="accent1"/>
            </a:solidFill>
            <a:prstDash val="solid"/>
          </a:ln>
        </p:spPr>
      </p:sp>
      <p:sp>
        <p:nvSpPr>
          <p:cNvPr id="4" name="Legend implemented"/>
          <p:cNvSpPr txBox="1"/>
          <p:nvPr/>
        </p:nvSpPr>
        <p:spPr>
          <a:xfrm>
            <a:off x="1005840" y="1261872"/>
            <a:ext cx="2560320" cy="274320"/>
          </a:xfrm>
          <a:prstGeom prst="rect">
            <a:avLst/>
          </a:prstGeom>
          <a:noFill/>
          <a:ln/>
        </p:spPr>
        <p:txBody>
          <a:bodyPr wrap="square" lIns="0" tIns="0" rIns="0" bIns="0" rtlCol="0" anchor="ctr"/>
          <a:lstStyle/>
          <a:p>
            <a:pPr marL="0" indent="0">
              <a:buNone/>
            </a:pPr>
            <a:r>
              <a:rPr lang="en-US" sz="1300" dirty="0">
                <a:solidFill>
                  <a:schemeClr val="tx1"/>
                </a:solidFill>
              </a:rPr>
              <a:t>Implemented in repository</a:t>
            </a:r>
            <a:endParaRPr lang="en-US" sz="1300" dirty="0"/>
          </a:p>
        </p:txBody>
      </p:sp>
      <p:sp>
        <p:nvSpPr>
          <p:cNvPr id="5" name="Legend planned swatch"/>
          <p:cNvSpPr/>
          <p:nvPr/>
        </p:nvSpPr>
        <p:spPr>
          <a:xfrm>
            <a:off x="3931920" y="1298448"/>
            <a:ext cx="347472" cy="201168"/>
          </a:xfrm>
          <a:prstGeom prst="roundRect">
            <a:avLst>
              <a:gd name="adj" fmla="val 18182"/>
            </a:avLst>
          </a:prstGeom>
          <a:solidFill>
            <a:schemeClr val="bg1"/>
          </a:solidFill>
          <a:ln w="22225">
            <a:solidFill>
              <a:schemeClr val="accent2"/>
            </a:solidFill>
            <a:prstDash val="dash"/>
          </a:ln>
        </p:spPr>
      </p:sp>
      <p:sp>
        <p:nvSpPr>
          <p:cNvPr id="6" name="Legend planned"/>
          <p:cNvSpPr txBox="1"/>
          <p:nvPr/>
        </p:nvSpPr>
        <p:spPr>
          <a:xfrm>
            <a:off x="4389120" y="1261872"/>
            <a:ext cx="2743200" cy="274320"/>
          </a:xfrm>
          <a:prstGeom prst="rect">
            <a:avLst/>
          </a:prstGeom>
          <a:noFill/>
          <a:ln/>
        </p:spPr>
        <p:txBody>
          <a:bodyPr wrap="square" lIns="0" tIns="0" rIns="0" bIns="0" rtlCol="0" anchor="ctr"/>
          <a:lstStyle/>
          <a:p>
            <a:pPr marL="0" indent="0">
              <a:buNone/>
            </a:pPr>
            <a:r>
              <a:rPr lang="en-US" sz="1300" dirty="0">
                <a:solidFill>
                  <a:schemeClr val="tx1"/>
                </a:solidFill>
              </a:rPr>
              <a:t>Planned — not implemented</a:t>
            </a:r>
            <a:endParaRPr lang="en-US" sz="1300" dirty="0"/>
          </a:p>
        </p:txBody>
      </p:sp>
      <p:sp>
        <p:nvSpPr>
          <p:cNvPr id="7" name="Arch box 1"/>
          <p:cNvSpPr/>
          <p:nvPr/>
        </p:nvSpPr>
        <p:spPr>
          <a:xfrm>
            <a:off x="548640" y="1783080"/>
            <a:ext cx="1962851" cy="2606040"/>
          </a:xfrm>
          <a:prstGeom prst="roundRect">
            <a:avLst>
              <a:gd name="adj" fmla="val 4659"/>
            </a:avLst>
          </a:prstGeom>
          <a:solidFill>
            <a:schemeClr val="bg2"/>
          </a:solidFill>
          <a:ln w="22225">
            <a:solidFill>
              <a:schemeClr val="accent1"/>
            </a:solidFill>
            <a:prstDash val="solid"/>
          </a:ln>
        </p:spPr>
      </p:sp>
      <p:sp>
        <p:nvSpPr>
          <p:cNvPr id="8" name="Arch number 1"/>
          <p:cNvSpPr/>
          <p:nvPr/>
        </p:nvSpPr>
        <p:spPr>
          <a:xfrm>
            <a:off x="713232" y="1938528"/>
            <a:ext cx="384048" cy="384048"/>
          </a:xfrm>
          <a:prstGeom prst="ellipse">
            <a:avLst/>
          </a:prstGeom>
          <a:solidFill>
            <a:schemeClr val="accent1"/>
          </a:solidFill>
          <a:ln/>
        </p:spPr>
      </p:sp>
      <p:sp>
        <p:nvSpPr>
          <p:cNvPr id="9" name="Arch number text 1"/>
          <p:cNvSpPr txBox="1"/>
          <p:nvPr/>
        </p:nvSpPr>
        <p:spPr>
          <a:xfrm>
            <a:off x="713232" y="1938528"/>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10" name="Arch title 1"/>
          <p:cNvSpPr txBox="1"/>
          <p:nvPr/>
        </p:nvSpPr>
        <p:spPr>
          <a:xfrm>
            <a:off x="713232" y="2423160"/>
            <a:ext cx="1688531" cy="594360"/>
          </a:xfrm>
          <a:prstGeom prst="rect">
            <a:avLst/>
          </a:prstGeom>
          <a:noFill/>
          <a:ln/>
        </p:spPr>
        <p:txBody>
          <a:bodyPr wrap="square" lIns="0" tIns="0" rIns="0" bIns="0" rtlCol="0" anchor="t"/>
          <a:lstStyle/>
          <a:p>
            <a:pPr marL="0" indent="0">
              <a:buNone/>
            </a:pPr>
            <a:r>
              <a:rPr lang="en-US" sz="1500" b="1" dirty="0">
                <a:solidFill>
                  <a:schemeClr val="tx1"/>
                </a:solidFill>
              </a:rPr>
              <a:t>Sample transaction data</a:t>
            </a:r>
            <a:endParaRPr lang="en-US" sz="1500" dirty="0"/>
          </a:p>
        </p:txBody>
      </p:sp>
      <p:sp>
        <p:nvSpPr>
          <p:cNvPr id="11" name="Arch detail 1"/>
          <p:cNvSpPr txBox="1"/>
          <p:nvPr/>
        </p:nvSpPr>
        <p:spPr>
          <a:xfrm>
            <a:off x="713232" y="3063240"/>
            <a:ext cx="1688531" cy="1234440"/>
          </a:xfrm>
          <a:prstGeom prst="rect">
            <a:avLst/>
          </a:prstGeom>
          <a:noFill/>
          <a:ln/>
        </p:spPr>
        <p:txBody>
          <a:bodyPr wrap="square" lIns="0" tIns="0" rIns="0" bIns="0" rtlCol="0" anchor="t"/>
          <a:lstStyle/>
          <a:p>
            <a:pPr marL="0" indent="0">
              <a:buNone/>
            </a:pPr>
            <a:r>
              <a:rPr lang="en-US" sz="1200" dirty="0">
                <a:solidFill>
                  <a:schemeClr val="tx1"/>
                </a:solidFill>
              </a:rPr>
              <a:t>TRANSACTIONS table</a:t>
            </a:r>
            <a:endParaRPr lang="en-US" sz="1200" dirty="0"/>
          </a:p>
          <a:p>
            <a:pPr marL="0" indent="0">
              <a:buNone/>
            </a:pPr>
            <a:r>
              <a:rPr lang="en-US" sz="1200" dirty="0">
                <a:solidFill>
                  <a:schemeClr val="tx1"/>
                </a:solidFill>
              </a:rPr>
              <a:t>9 seeded rows</a:t>
            </a:r>
            <a:endParaRPr lang="en-US" sz="1200" dirty="0"/>
          </a:p>
          <a:p>
            <a:pPr marL="0" indent="0">
              <a:buNone/>
            </a:pPr>
            <a:r>
              <a:rPr lang="en-US" sz="1200" dirty="0">
                <a:solidFill>
                  <a:schemeClr val="tx1"/>
                </a:solidFill>
              </a:rPr>
              <a:t>TRUNCATE + INSERT</a:t>
            </a:r>
            <a:endParaRPr lang="en-US" sz="1200" dirty="0"/>
          </a:p>
          <a:p>
            <a:pPr marL="0" indent="0">
              <a:buNone/>
            </a:pPr>
            <a:r>
              <a:rPr lang="en-US" sz="1200" dirty="0">
                <a:solidFill>
                  <a:schemeClr val="tx1"/>
                </a:solidFill>
              </a:rPr>
              <a:t>(safe to re-run)</a:t>
            </a:r>
            <a:endParaRPr lang="en-US" sz="1200" dirty="0"/>
          </a:p>
        </p:txBody>
      </p:sp>
      <p:sp>
        <p:nvSpPr>
          <p:cNvPr id="12" name="Arrow"/>
          <p:cNvSpPr/>
          <p:nvPr/>
        </p:nvSpPr>
        <p:spPr>
          <a:xfrm>
            <a:off x="2534351" y="2926080"/>
            <a:ext cx="274320" cy="274320"/>
          </a:xfrm>
          <a:prstGeom prst="rightArrow">
            <a:avLst/>
          </a:prstGeom>
          <a:solidFill>
            <a:schemeClr val="accent1"/>
          </a:solidFill>
          <a:ln/>
        </p:spPr>
      </p:sp>
      <p:sp>
        <p:nvSpPr>
          <p:cNvPr id="13" name="Arch box 2"/>
          <p:cNvSpPr/>
          <p:nvPr/>
        </p:nvSpPr>
        <p:spPr>
          <a:xfrm>
            <a:off x="2831531" y="1783080"/>
            <a:ext cx="1962851" cy="2606040"/>
          </a:xfrm>
          <a:prstGeom prst="roundRect">
            <a:avLst>
              <a:gd name="adj" fmla="val 4659"/>
            </a:avLst>
          </a:prstGeom>
          <a:solidFill>
            <a:schemeClr val="bg2"/>
          </a:solidFill>
          <a:ln w="22225">
            <a:solidFill>
              <a:schemeClr val="accent1"/>
            </a:solidFill>
            <a:prstDash val="solid"/>
          </a:ln>
        </p:spPr>
      </p:sp>
      <p:sp>
        <p:nvSpPr>
          <p:cNvPr id="14" name="Arch number 2"/>
          <p:cNvSpPr/>
          <p:nvPr/>
        </p:nvSpPr>
        <p:spPr>
          <a:xfrm>
            <a:off x="2996123" y="1938528"/>
            <a:ext cx="384048" cy="384048"/>
          </a:xfrm>
          <a:prstGeom prst="ellipse">
            <a:avLst/>
          </a:prstGeom>
          <a:solidFill>
            <a:schemeClr val="accent1"/>
          </a:solidFill>
          <a:ln/>
        </p:spPr>
      </p:sp>
      <p:sp>
        <p:nvSpPr>
          <p:cNvPr id="15" name="Arch number text 2"/>
          <p:cNvSpPr txBox="1"/>
          <p:nvPr/>
        </p:nvSpPr>
        <p:spPr>
          <a:xfrm>
            <a:off x="2996123" y="1938528"/>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6" name="Arch title 2"/>
          <p:cNvSpPr txBox="1"/>
          <p:nvPr/>
        </p:nvSpPr>
        <p:spPr>
          <a:xfrm>
            <a:off x="2996123" y="2423160"/>
            <a:ext cx="1688531" cy="594360"/>
          </a:xfrm>
          <a:prstGeom prst="rect">
            <a:avLst/>
          </a:prstGeom>
          <a:noFill/>
          <a:ln/>
        </p:spPr>
        <p:txBody>
          <a:bodyPr wrap="square" lIns="0" tIns="0" rIns="0" bIns="0" rtlCol="0" anchor="t"/>
          <a:lstStyle/>
          <a:p>
            <a:pPr marL="0" indent="0">
              <a:buNone/>
            </a:pPr>
            <a:r>
              <a:rPr lang="en-US" sz="1500" b="1" dirty="0">
                <a:solidFill>
                  <a:schemeClr val="tx1"/>
                </a:solidFill>
              </a:rPr>
              <a:t>Exasol database</a:t>
            </a:r>
            <a:endParaRPr lang="en-US" sz="1500" dirty="0"/>
          </a:p>
        </p:txBody>
      </p:sp>
      <p:sp>
        <p:nvSpPr>
          <p:cNvPr id="17" name="Arch detail 2"/>
          <p:cNvSpPr txBox="1"/>
          <p:nvPr/>
        </p:nvSpPr>
        <p:spPr>
          <a:xfrm>
            <a:off x="2996123" y="3063240"/>
            <a:ext cx="1688531" cy="1234440"/>
          </a:xfrm>
          <a:prstGeom prst="rect">
            <a:avLst/>
          </a:prstGeom>
          <a:noFill/>
          <a:ln/>
        </p:spPr>
        <p:txBody>
          <a:bodyPr wrap="square" lIns="0" tIns="0" rIns="0" bIns="0" rtlCol="0" anchor="t"/>
          <a:lstStyle/>
          <a:p>
            <a:pPr marL="0" indent="0">
              <a:buNone/>
            </a:pPr>
            <a:r>
              <a:rPr lang="en-US" sz="1200" dirty="0">
                <a:solidFill>
                  <a:schemeClr val="tx1"/>
                </a:solidFill>
              </a:rPr>
              <a:t>Schema</a:t>
            </a:r>
            <a:endParaRPr lang="en-US" sz="1200" dirty="0"/>
          </a:p>
          <a:p>
            <a:pPr marL="0" indent="0">
              <a:buNone/>
            </a:pPr>
            <a:r>
              <a:rPr lang="en-US" sz="1200" dirty="0">
                <a:solidFill>
                  <a:schemeClr val="tx1"/>
                </a:solidFill>
              </a:rPr>
              <a:t>TRANSACTIONGUARD</a:t>
            </a:r>
            <a:endParaRPr lang="en-US" sz="1200" dirty="0"/>
          </a:p>
          <a:p>
            <a:pPr marL="0" indent="0">
              <a:buNone/>
            </a:pPr>
            <a:r>
              <a:rPr lang="en-US" sz="1200" dirty="0">
                <a:solidFill>
                  <a:schemeClr val="tx1"/>
                </a:solidFill>
              </a:rPr>
              <a:t>Primary key on</a:t>
            </a:r>
            <a:endParaRPr lang="en-US" sz="1200" dirty="0"/>
          </a:p>
          <a:p>
            <a:pPr marL="0" indent="0">
              <a:buNone/>
            </a:pPr>
            <a:r>
              <a:rPr lang="en-US" sz="1200" dirty="0">
                <a:solidFill>
                  <a:schemeClr val="tx1"/>
                </a:solidFill>
              </a:rPr>
              <a:t>TRANSACTION_ID</a:t>
            </a:r>
            <a:endParaRPr lang="en-US" sz="1200" dirty="0"/>
          </a:p>
        </p:txBody>
      </p:sp>
      <p:sp>
        <p:nvSpPr>
          <p:cNvPr id="18" name="Arrow"/>
          <p:cNvSpPr/>
          <p:nvPr/>
        </p:nvSpPr>
        <p:spPr>
          <a:xfrm>
            <a:off x="4817242" y="2926080"/>
            <a:ext cx="274320" cy="274320"/>
          </a:xfrm>
          <a:prstGeom prst="rightArrow">
            <a:avLst/>
          </a:prstGeom>
          <a:solidFill>
            <a:schemeClr val="accent1"/>
          </a:solidFill>
          <a:ln/>
        </p:spPr>
      </p:sp>
      <p:sp>
        <p:nvSpPr>
          <p:cNvPr id="19" name="Arch box 3"/>
          <p:cNvSpPr/>
          <p:nvPr/>
        </p:nvSpPr>
        <p:spPr>
          <a:xfrm>
            <a:off x="5114422" y="1783080"/>
            <a:ext cx="1962851" cy="2606040"/>
          </a:xfrm>
          <a:prstGeom prst="roundRect">
            <a:avLst>
              <a:gd name="adj" fmla="val 4659"/>
            </a:avLst>
          </a:prstGeom>
          <a:solidFill>
            <a:schemeClr val="bg2"/>
          </a:solidFill>
          <a:ln w="22225">
            <a:solidFill>
              <a:schemeClr val="accent1"/>
            </a:solidFill>
            <a:prstDash val="solid"/>
          </a:ln>
        </p:spPr>
      </p:sp>
      <p:sp>
        <p:nvSpPr>
          <p:cNvPr id="20" name="Arch number 3"/>
          <p:cNvSpPr/>
          <p:nvPr/>
        </p:nvSpPr>
        <p:spPr>
          <a:xfrm>
            <a:off x="5279014" y="1938528"/>
            <a:ext cx="384048" cy="384048"/>
          </a:xfrm>
          <a:prstGeom prst="ellipse">
            <a:avLst/>
          </a:prstGeom>
          <a:solidFill>
            <a:schemeClr val="accent1"/>
          </a:solidFill>
          <a:ln/>
        </p:spPr>
      </p:sp>
      <p:sp>
        <p:nvSpPr>
          <p:cNvPr id="21" name="Arch number text 3"/>
          <p:cNvSpPr txBox="1"/>
          <p:nvPr/>
        </p:nvSpPr>
        <p:spPr>
          <a:xfrm>
            <a:off x="5279014" y="1938528"/>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22" name="Arch title 3"/>
          <p:cNvSpPr txBox="1"/>
          <p:nvPr/>
        </p:nvSpPr>
        <p:spPr>
          <a:xfrm>
            <a:off x="5279014" y="2423160"/>
            <a:ext cx="1688531" cy="594360"/>
          </a:xfrm>
          <a:prstGeom prst="rect">
            <a:avLst/>
          </a:prstGeom>
          <a:noFill/>
          <a:ln/>
        </p:spPr>
        <p:txBody>
          <a:bodyPr wrap="square" lIns="0" tIns="0" rIns="0" bIns="0" rtlCol="0" anchor="t"/>
          <a:lstStyle/>
          <a:p>
            <a:pPr marL="0" indent="0">
              <a:buNone/>
            </a:pPr>
            <a:r>
              <a:rPr lang="en-US" sz="1500" b="1" dirty="0">
                <a:solidFill>
                  <a:schemeClr val="tx1"/>
                </a:solidFill>
              </a:rPr>
              <a:t>SQL analysis and rule evaluation</a:t>
            </a:r>
            <a:endParaRPr lang="en-US" sz="1500" dirty="0"/>
          </a:p>
        </p:txBody>
      </p:sp>
      <p:sp>
        <p:nvSpPr>
          <p:cNvPr id="23" name="Arch detail 3"/>
          <p:cNvSpPr txBox="1"/>
          <p:nvPr/>
        </p:nvSpPr>
        <p:spPr>
          <a:xfrm>
            <a:off x="5279014" y="3063240"/>
            <a:ext cx="1688531" cy="1234440"/>
          </a:xfrm>
          <a:prstGeom prst="rect">
            <a:avLst/>
          </a:prstGeom>
          <a:noFill/>
          <a:ln/>
        </p:spPr>
        <p:txBody>
          <a:bodyPr wrap="square" lIns="0" tIns="0" rIns="0" bIns="0" rtlCol="0" anchor="t"/>
          <a:lstStyle/>
          <a:p>
            <a:pPr marL="0" indent="0">
              <a:buNone/>
            </a:pPr>
            <a:r>
              <a:rPr lang="en-US" sz="1200" dirty="0">
                <a:solidFill>
                  <a:schemeClr val="tx1"/>
                </a:solidFill>
              </a:rPr>
              <a:t>V_SUSPICIOUS_</a:t>
            </a:r>
            <a:endParaRPr lang="en-US" sz="1200" dirty="0"/>
          </a:p>
          <a:p>
            <a:pPr marL="0" indent="0">
              <a:buNone/>
            </a:pPr>
            <a:r>
              <a:rPr lang="en-US" sz="1200" dirty="0">
                <a:solidFill>
                  <a:schemeClr val="tx1"/>
                </a:solidFill>
              </a:rPr>
              <a:t>TRANSACTIONS view</a:t>
            </a:r>
            <a:endParaRPr lang="en-US" sz="1200" dirty="0"/>
          </a:p>
          <a:p>
            <a:pPr marL="0" indent="0">
              <a:buNone/>
            </a:pPr>
            <a:r>
              <a:rPr lang="en-US" sz="1200" dirty="0">
                <a:solidFill>
                  <a:schemeClr val="tx1"/>
                </a:solidFill>
              </a:rPr>
              <a:t>Window functions</a:t>
            </a:r>
            <a:endParaRPr lang="en-US" sz="1200" dirty="0"/>
          </a:p>
          <a:p>
            <a:pPr marL="0" indent="0">
              <a:buNone/>
            </a:pPr>
            <a:r>
              <a:rPr lang="en-US" sz="1200" dirty="0">
                <a:solidFill>
                  <a:schemeClr val="tx1"/>
                </a:solidFill>
              </a:rPr>
              <a:t>3 rule flags</a:t>
            </a:r>
            <a:endParaRPr lang="en-US" sz="1200" dirty="0"/>
          </a:p>
        </p:txBody>
      </p:sp>
      <p:sp>
        <p:nvSpPr>
          <p:cNvPr id="24" name="Arrow"/>
          <p:cNvSpPr/>
          <p:nvPr/>
        </p:nvSpPr>
        <p:spPr>
          <a:xfrm>
            <a:off x="7100133" y="2926080"/>
            <a:ext cx="274320" cy="274320"/>
          </a:xfrm>
          <a:prstGeom prst="rightArrow">
            <a:avLst/>
          </a:prstGeom>
          <a:solidFill>
            <a:schemeClr val="accent1"/>
          </a:solidFill>
          <a:ln/>
        </p:spPr>
      </p:sp>
      <p:sp>
        <p:nvSpPr>
          <p:cNvPr id="25" name="Arch box 4"/>
          <p:cNvSpPr/>
          <p:nvPr/>
        </p:nvSpPr>
        <p:spPr>
          <a:xfrm>
            <a:off x="7397313" y="1783080"/>
            <a:ext cx="1962851" cy="2606040"/>
          </a:xfrm>
          <a:prstGeom prst="roundRect">
            <a:avLst>
              <a:gd name="adj" fmla="val 4659"/>
            </a:avLst>
          </a:prstGeom>
          <a:solidFill>
            <a:schemeClr val="bg2"/>
          </a:solidFill>
          <a:ln w="22225">
            <a:solidFill>
              <a:schemeClr val="accent1"/>
            </a:solidFill>
            <a:prstDash val="solid"/>
          </a:ln>
        </p:spPr>
      </p:sp>
      <p:sp>
        <p:nvSpPr>
          <p:cNvPr id="26" name="Arch number 4"/>
          <p:cNvSpPr/>
          <p:nvPr/>
        </p:nvSpPr>
        <p:spPr>
          <a:xfrm>
            <a:off x="7561905" y="1938528"/>
            <a:ext cx="384048" cy="384048"/>
          </a:xfrm>
          <a:prstGeom prst="ellipse">
            <a:avLst/>
          </a:prstGeom>
          <a:solidFill>
            <a:schemeClr val="accent1"/>
          </a:solidFill>
          <a:ln/>
        </p:spPr>
      </p:sp>
      <p:sp>
        <p:nvSpPr>
          <p:cNvPr id="27" name="Arch number text 4"/>
          <p:cNvSpPr txBox="1"/>
          <p:nvPr/>
        </p:nvSpPr>
        <p:spPr>
          <a:xfrm>
            <a:off x="7561905" y="1938528"/>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8" name="Arch title 4"/>
          <p:cNvSpPr txBox="1"/>
          <p:nvPr/>
        </p:nvSpPr>
        <p:spPr>
          <a:xfrm>
            <a:off x="7561905" y="2423160"/>
            <a:ext cx="1688531" cy="594360"/>
          </a:xfrm>
          <a:prstGeom prst="rect">
            <a:avLst/>
          </a:prstGeom>
          <a:noFill/>
          <a:ln/>
        </p:spPr>
        <p:txBody>
          <a:bodyPr wrap="square" lIns="0" tIns="0" rIns="0" bIns="0" rtlCol="0" anchor="t"/>
          <a:lstStyle/>
          <a:p>
            <a:pPr marL="0" indent="0">
              <a:buNone/>
            </a:pPr>
            <a:r>
              <a:rPr lang="en-US" sz="1500" b="1" dirty="0">
                <a:solidFill>
                  <a:schemeClr val="tx1"/>
                </a:solidFill>
              </a:rPr>
              <a:t>Risk classification</a:t>
            </a:r>
            <a:endParaRPr lang="en-US" sz="1500" dirty="0"/>
          </a:p>
        </p:txBody>
      </p:sp>
      <p:sp>
        <p:nvSpPr>
          <p:cNvPr id="29" name="Arch detail 4"/>
          <p:cNvSpPr txBox="1"/>
          <p:nvPr/>
        </p:nvSpPr>
        <p:spPr>
          <a:xfrm>
            <a:off x="7561905" y="3063240"/>
            <a:ext cx="1688531" cy="1234440"/>
          </a:xfrm>
          <a:prstGeom prst="rect">
            <a:avLst/>
          </a:prstGeom>
          <a:noFill/>
          <a:ln/>
        </p:spPr>
        <p:txBody>
          <a:bodyPr wrap="square" lIns="0" tIns="0" rIns="0" bIns="0" rtlCol="0" anchor="t"/>
          <a:lstStyle/>
          <a:p>
            <a:pPr marL="0" indent="0">
              <a:buNone/>
            </a:pPr>
            <a:r>
              <a:rPr lang="en-US" sz="1200" dirty="0">
                <a:solidFill>
                  <a:schemeClr val="tx1"/>
                </a:solidFill>
              </a:rPr>
              <a:t>Weighted score 0–100</a:t>
            </a:r>
            <a:endParaRPr lang="en-US" sz="1200" dirty="0"/>
          </a:p>
          <a:p>
            <a:pPr marL="0" indent="0">
              <a:buNone/>
            </a:pPr>
            <a:r>
              <a:rPr lang="en-US" sz="1200" dirty="0">
                <a:solidFill>
                  <a:schemeClr val="tx1"/>
                </a:solidFill>
              </a:rPr>
              <a:t>Severity tier</a:t>
            </a:r>
            <a:endParaRPr lang="en-US" sz="1200" dirty="0"/>
          </a:p>
          <a:p>
            <a:pPr marL="0" indent="0">
              <a:buNone/>
            </a:pPr>
            <a:r>
              <a:rPr lang="en-US" sz="1200" dirty="0">
                <a:solidFill>
                  <a:schemeClr val="tx1"/>
                </a:solidFill>
              </a:rPr>
              <a:t>REVIEW / NORMAL</a:t>
            </a:r>
            <a:endParaRPr lang="en-US" sz="1200" dirty="0"/>
          </a:p>
          <a:p>
            <a:pPr marL="0" indent="0">
              <a:buNone/>
            </a:pPr>
            <a:r>
              <a:rPr lang="en-US" sz="1200" dirty="0">
                <a:solidFill>
                  <a:schemeClr val="tx1"/>
                </a:solidFill>
              </a:rPr>
              <a:t>Reason text</a:t>
            </a:r>
            <a:endParaRPr lang="en-US" sz="1200" dirty="0"/>
          </a:p>
        </p:txBody>
      </p:sp>
      <p:sp>
        <p:nvSpPr>
          <p:cNvPr id="30" name="Arrow"/>
          <p:cNvSpPr/>
          <p:nvPr/>
        </p:nvSpPr>
        <p:spPr>
          <a:xfrm>
            <a:off x="9383024" y="2926080"/>
            <a:ext cx="274320" cy="274320"/>
          </a:xfrm>
          <a:prstGeom prst="rightArrow">
            <a:avLst/>
          </a:prstGeom>
          <a:solidFill>
            <a:schemeClr val="accent1"/>
          </a:solidFill>
          <a:ln/>
        </p:spPr>
      </p:sp>
      <p:sp>
        <p:nvSpPr>
          <p:cNvPr id="31" name="Arch box 5"/>
          <p:cNvSpPr/>
          <p:nvPr/>
        </p:nvSpPr>
        <p:spPr>
          <a:xfrm>
            <a:off x="9680204" y="1783080"/>
            <a:ext cx="1962851" cy="2606040"/>
          </a:xfrm>
          <a:prstGeom prst="roundRect">
            <a:avLst>
              <a:gd name="adj" fmla="val 4659"/>
            </a:avLst>
          </a:prstGeom>
          <a:solidFill>
            <a:schemeClr val="bg2"/>
          </a:solidFill>
          <a:ln w="22225">
            <a:solidFill>
              <a:schemeClr val="accent1"/>
            </a:solidFill>
            <a:prstDash val="solid"/>
          </a:ln>
        </p:spPr>
      </p:sp>
      <p:sp>
        <p:nvSpPr>
          <p:cNvPr id="32" name="Arch number 5"/>
          <p:cNvSpPr/>
          <p:nvPr/>
        </p:nvSpPr>
        <p:spPr>
          <a:xfrm>
            <a:off x="9844796" y="1938528"/>
            <a:ext cx="384048" cy="384048"/>
          </a:xfrm>
          <a:prstGeom prst="ellipse">
            <a:avLst/>
          </a:prstGeom>
          <a:solidFill>
            <a:schemeClr val="accent1"/>
          </a:solidFill>
          <a:ln/>
        </p:spPr>
      </p:sp>
      <p:sp>
        <p:nvSpPr>
          <p:cNvPr id="33" name="Arch number text 5"/>
          <p:cNvSpPr txBox="1"/>
          <p:nvPr/>
        </p:nvSpPr>
        <p:spPr>
          <a:xfrm>
            <a:off x="9844796" y="1938528"/>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34" name="Arch title 5"/>
          <p:cNvSpPr txBox="1"/>
          <p:nvPr/>
        </p:nvSpPr>
        <p:spPr>
          <a:xfrm>
            <a:off x="9844796" y="2423160"/>
            <a:ext cx="1688531" cy="594360"/>
          </a:xfrm>
          <a:prstGeom prst="rect">
            <a:avLst/>
          </a:prstGeom>
          <a:noFill/>
          <a:ln/>
        </p:spPr>
        <p:txBody>
          <a:bodyPr wrap="square" lIns="0" tIns="0" rIns="0" bIns="0" rtlCol="0" anchor="t"/>
          <a:lstStyle/>
          <a:p>
            <a:pPr marL="0" indent="0">
              <a:buNone/>
            </a:pPr>
            <a:r>
              <a:rPr lang="en-US" sz="1500" b="1" dirty="0">
                <a:solidFill>
                  <a:schemeClr val="tx1"/>
                </a:solidFill>
              </a:rPr>
              <a:t>Query results and summary</a:t>
            </a:r>
            <a:endParaRPr lang="en-US" sz="1500" dirty="0"/>
          </a:p>
        </p:txBody>
      </p:sp>
      <p:sp>
        <p:nvSpPr>
          <p:cNvPr id="35" name="Arch detail 5"/>
          <p:cNvSpPr txBox="1"/>
          <p:nvPr/>
        </p:nvSpPr>
        <p:spPr>
          <a:xfrm>
            <a:off x="9844796" y="3063240"/>
            <a:ext cx="1688531" cy="1234440"/>
          </a:xfrm>
          <a:prstGeom prst="rect">
            <a:avLst/>
          </a:prstGeom>
          <a:noFill/>
          <a:ln/>
        </p:spPr>
        <p:txBody>
          <a:bodyPr wrap="square" lIns="0" tIns="0" rIns="0" bIns="0" rtlCol="0" anchor="t"/>
          <a:lstStyle/>
          <a:p>
            <a:pPr marL="0" indent="0">
              <a:buNone/>
            </a:pPr>
            <a:r>
              <a:rPr lang="en-US" sz="1200" dirty="0">
                <a:solidFill>
                  <a:schemeClr val="tx1"/>
                </a:solidFill>
              </a:rPr>
              <a:t>Review-queue query</a:t>
            </a:r>
            <a:endParaRPr lang="en-US" sz="1200" dirty="0"/>
          </a:p>
          <a:p>
            <a:pPr marL="0" indent="0">
              <a:buNone/>
            </a:pPr>
            <a:r>
              <a:rPr lang="en-US" sz="1200" dirty="0">
                <a:solidFill>
                  <a:schemeClr val="tx1"/>
                </a:solidFill>
              </a:rPr>
              <a:t>V_RISK_SUMMARY</a:t>
            </a:r>
            <a:endParaRPr lang="en-US" sz="1200" dirty="0"/>
          </a:p>
          <a:p>
            <a:pPr marL="0" indent="0">
              <a:buNone/>
            </a:pPr>
            <a:r>
              <a:rPr lang="en-US" sz="1200" dirty="0">
                <a:solidFill>
                  <a:schemeClr val="tx1"/>
                </a:solidFill>
              </a:rPr>
              <a:t>V_ACCOUNT_RISK_</a:t>
            </a:r>
            <a:endParaRPr lang="en-US" sz="1200" dirty="0"/>
          </a:p>
          <a:p>
            <a:pPr marL="0" indent="0">
              <a:buNone/>
            </a:pPr>
            <a:r>
              <a:rPr lang="en-US" sz="1200" dirty="0">
                <a:solidFill>
                  <a:schemeClr val="tx1"/>
                </a:solidFill>
              </a:rPr>
              <a:t>PROFILE</a:t>
            </a:r>
            <a:endParaRPr lang="en-US" sz="1200" dirty="0"/>
          </a:p>
          <a:p>
            <a:pPr marL="0" indent="0">
              <a:buNone/>
            </a:pPr>
            <a:r>
              <a:rPr lang="en-US" sz="1200" dirty="0">
                <a:solidFill>
                  <a:schemeClr val="tx1"/>
                </a:solidFill>
              </a:rPr>
              <a:t>KPI summary query</a:t>
            </a:r>
            <a:endParaRPr lang="en-US" sz="1200" dirty="0"/>
          </a:p>
        </p:txBody>
      </p:sp>
      <p:sp>
        <p:nvSpPr>
          <p:cNvPr id="36" name="Planned label"/>
          <p:cNvSpPr txBox="1"/>
          <p:nvPr/>
        </p:nvSpPr>
        <p:spPr>
          <a:xfrm>
            <a:off x="548640" y="4663440"/>
            <a:ext cx="5486400" cy="274320"/>
          </a:xfrm>
          <a:prstGeom prst="rect">
            <a:avLst/>
          </a:prstGeom>
          <a:noFill/>
          <a:ln/>
        </p:spPr>
        <p:txBody>
          <a:bodyPr wrap="square" lIns="0" tIns="0" rIns="0" bIns="0" rtlCol="0" anchor="t"/>
          <a:lstStyle/>
          <a:p>
            <a:pPr marL="0" indent="0">
              <a:buNone/>
            </a:pPr>
            <a:r>
              <a:rPr lang="en-US" sz="1200" b="1" dirty="0">
                <a:solidFill>
                  <a:schemeClr val="accent2"/>
                </a:solidFill>
              </a:rPr>
              <a:t>PLANNED — NOT YET IMPLEMENTED</a:t>
            </a:r>
            <a:endParaRPr lang="en-US" sz="1200" dirty="0"/>
          </a:p>
        </p:txBody>
      </p:sp>
      <p:sp>
        <p:nvSpPr>
          <p:cNvPr id="37" name="Planned box 1"/>
          <p:cNvSpPr/>
          <p:nvPr/>
        </p:nvSpPr>
        <p:spPr>
          <a:xfrm>
            <a:off x="548640" y="5029200"/>
            <a:ext cx="2567864" cy="868680"/>
          </a:xfrm>
          <a:prstGeom prst="roundRect">
            <a:avLst>
              <a:gd name="adj" fmla="val 10526"/>
            </a:avLst>
          </a:prstGeom>
          <a:solidFill>
            <a:schemeClr val="bg1"/>
          </a:solidFill>
          <a:ln w="22225">
            <a:solidFill>
              <a:schemeClr val="accent2"/>
            </a:solidFill>
            <a:prstDash val="dash"/>
          </a:ln>
        </p:spPr>
      </p:sp>
      <p:sp>
        <p:nvSpPr>
          <p:cNvPr id="38" name="Planned Configurable thresholds"/>
          <p:cNvSpPr txBox="1"/>
          <p:nvPr/>
        </p:nvSpPr>
        <p:spPr>
          <a:xfrm>
            <a:off x="685800" y="5029200"/>
            <a:ext cx="2293544" cy="868680"/>
          </a:xfrm>
          <a:prstGeom prst="rect">
            <a:avLst/>
          </a:prstGeom>
          <a:noFill/>
          <a:ln/>
        </p:spPr>
        <p:txBody>
          <a:bodyPr wrap="square" lIns="0" tIns="0" rIns="0" bIns="0" rtlCol="0" anchor="ctr"/>
          <a:lstStyle/>
          <a:p>
            <a:pPr marL="0" indent="0" algn="ctr">
              <a:buNone/>
            </a:pPr>
            <a:r>
              <a:rPr lang="en-US" sz="1500" b="1" dirty="0">
                <a:solidFill>
                  <a:schemeClr val="tx1"/>
                </a:solidFill>
              </a:rPr>
              <a:t>Configurable thresholds</a:t>
            </a:r>
            <a:endParaRPr lang="en-US" sz="1500" dirty="0"/>
          </a:p>
        </p:txBody>
      </p:sp>
      <p:sp>
        <p:nvSpPr>
          <p:cNvPr id="39" name="Planned box 2"/>
          <p:cNvSpPr/>
          <p:nvPr/>
        </p:nvSpPr>
        <p:spPr>
          <a:xfrm>
            <a:off x="3390824" y="5029200"/>
            <a:ext cx="2567864" cy="868680"/>
          </a:xfrm>
          <a:prstGeom prst="roundRect">
            <a:avLst>
              <a:gd name="adj" fmla="val 10526"/>
            </a:avLst>
          </a:prstGeom>
          <a:solidFill>
            <a:schemeClr val="bg1"/>
          </a:solidFill>
          <a:ln w="22225">
            <a:solidFill>
              <a:schemeClr val="accent2"/>
            </a:solidFill>
            <a:prstDash val="dash"/>
          </a:ln>
        </p:spPr>
      </p:sp>
      <p:sp>
        <p:nvSpPr>
          <p:cNvPr id="40" name="Planned Richer transaction patterns"/>
          <p:cNvSpPr txBox="1"/>
          <p:nvPr/>
        </p:nvSpPr>
        <p:spPr>
          <a:xfrm>
            <a:off x="3527984" y="5029200"/>
            <a:ext cx="2293544" cy="868680"/>
          </a:xfrm>
          <a:prstGeom prst="rect">
            <a:avLst/>
          </a:prstGeom>
          <a:noFill/>
          <a:ln/>
        </p:spPr>
        <p:txBody>
          <a:bodyPr wrap="square" lIns="0" tIns="0" rIns="0" bIns="0" rtlCol="0" anchor="ctr"/>
          <a:lstStyle/>
          <a:p>
            <a:pPr marL="0" indent="0" algn="ctr">
              <a:buNone/>
            </a:pPr>
            <a:r>
              <a:rPr lang="en-US" sz="1500" b="1" dirty="0">
                <a:solidFill>
                  <a:schemeClr val="tx1"/>
                </a:solidFill>
              </a:rPr>
              <a:t>Richer transaction patterns</a:t>
            </a:r>
            <a:endParaRPr lang="en-US" sz="1500" dirty="0"/>
          </a:p>
        </p:txBody>
      </p:sp>
      <p:sp>
        <p:nvSpPr>
          <p:cNvPr id="41" name="Planned box 3"/>
          <p:cNvSpPr/>
          <p:nvPr/>
        </p:nvSpPr>
        <p:spPr>
          <a:xfrm>
            <a:off x="6233008" y="5029200"/>
            <a:ext cx="2567864" cy="868680"/>
          </a:xfrm>
          <a:prstGeom prst="roundRect">
            <a:avLst>
              <a:gd name="adj" fmla="val 10526"/>
            </a:avLst>
          </a:prstGeom>
          <a:solidFill>
            <a:schemeClr val="bg1"/>
          </a:solidFill>
          <a:ln w="22225">
            <a:solidFill>
              <a:schemeClr val="accent2"/>
            </a:solidFill>
            <a:prstDash val="dash"/>
          </a:ln>
        </p:spPr>
      </p:sp>
      <p:sp>
        <p:nvSpPr>
          <p:cNvPr id="42" name="Planned Dashboard"/>
          <p:cNvSpPr txBox="1"/>
          <p:nvPr/>
        </p:nvSpPr>
        <p:spPr>
          <a:xfrm>
            <a:off x="6370168" y="5029200"/>
            <a:ext cx="2293544" cy="868680"/>
          </a:xfrm>
          <a:prstGeom prst="rect">
            <a:avLst/>
          </a:prstGeom>
          <a:noFill/>
          <a:ln/>
        </p:spPr>
        <p:txBody>
          <a:bodyPr wrap="square" lIns="0" tIns="0" rIns="0" bIns="0" rtlCol="0" anchor="ctr"/>
          <a:lstStyle/>
          <a:p>
            <a:pPr marL="0" indent="0" algn="ctr">
              <a:buNone/>
            </a:pPr>
            <a:r>
              <a:rPr lang="en-US" sz="1500" b="1" dirty="0">
                <a:solidFill>
                  <a:schemeClr val="tx1"/>
                </a:solidFill>
              </a:rPr>
              <a:t>Dashboard</a:t>
            </a:r>
            <a:endParaRPr lang="en-US" sz="1500" dirty="0"/>
          </a:p>
        </p:txBody>
      </p:sp>
      <p:sp>
        <p:nvSpPr>
          <p:cNvPr id="43" name="Planned box 4"/>
          <p:cNvSpPr/>
          <p:nvPr/>
        </p:nvSpPr>
        <p:spPr>
          <a:xfrm>
            <a:off x="9075191" y="5029200"/>
            <a:ext cx="2567864" cy="868680"/>
          </a:xfrm>
          <a:prstGeom prst="roundRect">
            <a:avLst>
              <a:gd name="adj" fmla="val 10526"/>
            </a:avLst>
          </a:prstGeom>
          <a:solidFill>
            <a:schemeClr val="bg1"/>
          </a:solidFill>
          <a:ln w="22225">
            <a:solidFill>
              <a:schemeClr val="accent2"/>
            </a:solidFill>
            <a:prstDash val="dash"/>
          </a:ln>
        </p:spPr>
      </p:sp>
      <p:sp>
        <p:nvSpPr>
          <p:cNvPr id="44" name="Planned Labelled-dataset evaluation"/>
          <p:cNvSpPr txBox="1"/>
          <p:nvPr/>
        </p:nvSpPr>
        <p:spPr>
          <a:xfrm>
            <a:off x="9212351" y="5029200"/>
            <a:ext cx="2293544" cy="868680"/>
          </a:xfrm>
          <a:prstGeom prst="rect">
            <a:avLst/>
          </a:prstGeom>
          <a:noFill/>
          <a:ln/>
        </p:spPr>
        <p:txBody>
          <a:bodyPr wrap="square" lIns="0" tIns="0" rIns="0" bIns="0" rtlCol="0" anchor="ctr"/>
          <a:lstStyle/>
          <a:p>
            <a:pPr marL="0" indent="0" algn="ctr">
              <a:buNone/>
            </a:pPr>
            <a:r>
              <a:rPr lang="en-US" sz="1500" b="1" dirty="0">
                <a:solidFill>
                  <a:schemeClr val="tx1"/>
                </a:solidFill>
              </a:rPr>
              <a:t>Labelled-dataset evaluation</a:t>
            </a:r>
            <a:endParaRPr lang="en-US" sz="1500" dirty="0"/>
          </a:p>
        </p:txBody>
      </p:sp>
      <p:sp>
        <p:nvSpPr>
          <p:cNvPr id="4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Technology Stack</a:t>
            </a:r>
            <a:endParaRPr lang="en-US" sz="3600" dirty="0"/>
          </a:p>
        </p:txBody>
      </p:sp>
      <p:sp>
        <p:nvSpPr>
          <p:cNvPr id="3" name="Stack card Exasol Personal"/>
          <p:cNvSpPr/>
          <p:nvPr/>
        </p:nvSpPr>
        <p:spPr>
          <a:xfrm>
            <a:off x="548640" y="1417320"/>
            <a:ext cx="2567864" cy="3200400"/>
          </a:xfrm>
          <a:prstGeom prst="roundRect">
            <a:avLst>
              <a:gd name="adj" fmla="val 3561"/>
            </a:avLst>
          </a:prstGeom>
          <a:solidFill>
            <a:schemeClr val="bg2"/>
          </a:solidFill>
          <a:ln/>
          <a:effectLst>
            <a:outerShdw blurRad="101600" dist="25400" dir="5400000" algn="bl" rotWithShape="0">
              <a:srgbClr val="0B1F3A">
                <a:alpha val="12000"/>
              </a:srgbClr>
            </a:outerShdw>
          </a:effectLst>
        </p:spPr>
      </p:sp>
      <p:sp>
        <p:nvSpPr>
          <p:cNvPr id="4" name="Exasol Personal badge"/>
          <p:cNvSpPr/>
          <p:nvPr/>
        </p:nvSpPr>
        <p:spPr>
          <a:xfrm>
            <a:off x="822960" y="1737360"/>
            <a:ext cx="777240" cy="777240"/>
          </a:xfrm>
          <a:prstGeom prst="ellipse">
            <a:avLst/>
          </a:prstGeom>
          <a:solidFill>
            <a:schemeClr val="accent1"/>
          </a:solidFill>
          <a:ln/>
        </p:spPr>
      </p:sp>
      <p:pic>
        <p:nvPicPr>
          <p:cNvPr id="5" name="Exasol Personal icon" descr="Exasol Personal icon"/>
          <p:cNvPicPr>
            <a:picLocks noChangeAspect="1"/>
          </p:cNvPicPr>
          <p:nvPr/>
        </p:nvPicPr>
        <p:blipFill>
          <a:blip r:embed="rId3"/>
          <a:stretch>
            <a:fillRect/>
          </a:stretch>
        </p:blipFill>
        <p:spPr>
          <a:xfrm>
            <a:off x="1025042" y="1939442"/>
            <a:ext cx="373075" cy="373075"/>
          </a:xfrm>
          <a:prstGeom prst="rect">
            <a:avLst/>
          </a:prstGeom>
        </p:spPr>
      </p:pic>
      <p:sp>
        <p:nvSpPr>
          <p:cNvPr id="6" name="Exasol Personal"/>
          <p:cNvSpPr txBox="1"/>
          <p:nvPr/>
        </p:nvSpPr>
        <p:spPr>
          <a:xfrm>
            <a:off x="822960" y="2697480"/>
            <a:ext cx="2110664" cy="365760"/>
          </a:xfrm>
          <a:prstGeom prst="rect">
            <a:avLst/>
          </a:prstGeom>
          <a:noFill/>
          <a:ln/>
        </p:spPr>
        <p:txBody>
          <a:bodyPr wrap="square" lIns="0" tIns="0" rIns="0" bIns="0" rtlCol="0" anchor="t"/>
          <a:lstStyle/>
          <a:p>
            <a:pPr marL="0" indent="0">
              <a:buNone/>
            </a:pPr>
            <a:r>
              <a:rPr lang="en-US" sz="2000" b="1" dirty="0">
                <a:solidFill>
                  <a:schemeClr val="tx1"/>
                </a:solidFill>
              </a:rPr>
              <a:t>Exasol Personal</a:t>
            </a:r>
            <a:endParaRPr lang="en-US" sz="2000" dirty="0"/>
          </a:p>
        </p:txBody>
      </p:sp>
      <p:sp>
        <p:nvSpPr>
          <p:cNvPr id="7" name="Exasol Personal points"/>
          <p:cNvSpPr txBox="1"/>
          <p:nvPr/>
        </p:nvSpPr>
        <p:spPr>
          <a:xfrm>
            <a:off x="822960" y="3200400"/>
            <a:ext cx="2110664" cy="13258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In-memory analytic DB</a:t>
            </a:r>
            <a:endParaRPr lang="en-US" sz="1400" dirty="0"/>
          </a:p>
          <a:p>
            <a:pPr marL="177800" indent="-177800">
              <a:spcAft>
                <a:spcPts val="400"/>
              </a:spcAft>
              <a:buSzPct val="100000"/>
              <a:buChar char="•"/>
            </a:pPr>
            <a:r>
              <a:rPr lang="en-US" sz="1400" dirty="0">
                <a:solidFill>
                  <a:schemeClr val="tx1"/>
                </a:solidFill>
              </a:rPr>
              <a:t>Hosts schema, table, views</a:t>
            </a:r>
            <a:endParaRPr lang="en-US" sz="1400" dirty="0"/>
          </a:p>
          <a:p>
            <a:pPr marL="177800" indent="-177800">
              <a:spcAft>
                <a:spcPts val="400"/>
              </a:spcAft>
              <a:buSzPct val="100000"/>
              <a:buChar char="•"/>
            </a:pPr>
            <a:r>
              <a:rPr lang="en-US" sz="1400" dirty="0">
                <a:solidFill>
                  <a:schemeClr val="tx1"/>
                </a:solidFill>
              </a:rPr>
              <a:t>Runs the detection SQL</a:t>
            </a:r>
            <a:endParaRPr lang="en-US" sz="1400" dirty="0"/>
          </a:p>
        </p:txBody>
      </p:sp>
      <p:sp>
        <p:nvSpPr>
          <p:cNvPr id="8" name="Stack card SQL"/>
          <p:cNvSpPr/>
          <p:nvPr/>
        </p:nvSpPr>
        <p:spPr>
          <a:xfrm>
            <a:off x="3390824" y="1417320"/>
            <a:ext cx="2567864" cy="3200400"/>
          </a:xfrm>
          <a:prstGeom prst="roundRect">
            <a:avLst>
              <a:gd name="adj" fmla="val 3561"/>
            </a:avLst>
          </a:prstGeom>
          <a:solidFill>
            <a:schemeClr val="bg2"/>
          </a:solidFill>
          <a:ln/>
          <a:effectLst>
            <a:outerShdw blurRad="101600" dist="25400" dir="5400000" algn="bl" rotWithShape="0">
              <a:srgbClr val="0B1F3A">
                <a:alpha val="12000"/>
              </a:srgbClr>
            </a:outerShdw>
          </a:effectLst>
        </p:spPr>
      </p:sp>
      <p:sp>
        <p:nvSpPr>
          <p:cNvPr id="9" name="SQL badge"/>
          <p:cNvSpPr/>
          <p:nvPr/>
        </p:nvSpPr>
        <p:spPr>
          <a:xfrm>
            <a:off x="3665144" y="1737360"/>
            <a:ext cx="777240" cy="777240"/>
          </a:xfrm>
          <a:prstGeom prst="ellipse">
            <a:avLst/>
          </a:prstGeom>
          <a:solidFill>
            <a:schemeClr val="accent1"/>
          </a:solidFill>
          <a:ln/>
        </p:spPr>
      </p:sp>
      <p:pic>
        <p:nvPicPr>
          <p:cNvPr id="10" name="SQL icon" descr="SQL icon"/>
          <p:cNvPicPr>
            <a:picLocks noChangeAspect="1"/>
          </p:cNvPicPr>
          <p:nvPr/>
        </p:nvPicPr>
        <p:blipFill>
          <a:blip r:embed="rId4"/>
          <a:stretch>
            <a:fillRect/>
          </a:stretch>
        </p:blipFill>
        <p:spPr>
          <a:xfrm>
            <a:off x="3867226" y="1939442"/>
            <a:ext cx="373075" cy="373075"/>
          </a:xfrm>
          <a:prstGeom prst="rect">
            <a:avLst/>
          </a:prstGeom>
        </p:spPr>
      </p:pic>
      <p:sp>
        <p:nvSpPr>
          <p:cNvPr id="11" name="SQL"/>
          <p:cNvSpPr txBox="1"/>
          <p:nvPr/>
        </p:nvSpPr>
        <p:spPr>
          <a:xfrm>
            <a:off x="3665144" y="2697480"/>
            <a:ext cx="2110664" cy="365760"/>
          </a:xfrm>
          <a:prstGeom prst="rect">
            <a:avLst/>
          </a:prstGeom>
          <a:noFill/>
          <a:ln/>
        </p:spPr>
        <p:txBody>
          <a:bodyPr wrap="square" lIns="0" tIns="0" rIns="0" bIns="0" rtlCol="0" anchor="t"/>
          <a:lstStyle/>
          <a:p>
            <a:pPr marL="0" indent="0">
              <a:buNone/>
            </a:pPr>
            <a:r>
              <a:rPr lang="en-US" sz="2000" b="1" dirty="0">
                <a:solidFill>
                  <a:schemeClr val="tx1"/>
                </a:solidFill>
              </a:rPr>
              <a:t>SQL</a:t>
            </a:r>
            <a:endParaRPr lang="en-US" sz="2000" dirty="0"/>
          </a:p>
        </p:txBody>
      </p:sp>
      <p:sp>
        <p:nvSpPr>
          <p:cNvPr id="12" name="SQL points"/>
          <p:cNvSpPr txBox="1"/>
          <p:nvPr/>
        </p:nvSpPr>
        <p:spPr>
          <a:xfrm>
            <a:off x="3665144" y="3200400"/>
            <a:ext cx="2110664" cy="13258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Exasol dialect</a:t>
            </a:r>
            <a:endParaRPr lang="en-US" sz="1400" dirty="0"/>
          </a:p>
          <a:p>
            <a:pPr marL="177800" indent="-177800">
              <a:spcAft>
                <a:spcPts val="400"/>
              </a:spcAft>
              <a:buSzPct val="100000"/>
              <a:buChar char="•"/>
            </a:pPr>
            <a:r>
              <a:rPr lang="en-US" sz="1400" dirty="0">
                <a:solidFill>
                  <a:schemeClr val="tx1"/>
                </a:solidFill>
              </a:rPr>
              <a:t>CTEs and window functions</a:t>
            </a:r>
            <a:endParaRPr lang="en-US" sz="1400" dirty="0"/>
          </a:p>
          <a:p>
            <a:pPr marL="177800" indent="-177800">
              <a:spcAft>
                <a:spcPts val="400"/>
              </a:spcAft>
              <a:buSzPct val="100000"/>
              <a:buChar char="•"/>
            </a:pPr>
            <a:r>
              <a:rPr lang="en-US" sz="1400" dirty="0">
                <a:solidFill>
                  <a:schemeClr val="tx1"/>
                </a:solidFill>
              </a:rPr>
              <a:t>CASE-based flags and scoring</a:t>
            </a:r>
            <a:endParaRPr lang="en-US" sz="1400" dirty="0"/>
          </a:p>
        </p:txBody>
      </p:sp>
      <p:sp>
        <p:nvSpPr>
          <p:cNvPr id="13" name="Stack card GitHub"/>
          <p:cNvSpPr/>
          <p:nvPr/>
        </p:nvSpPr>
        <p:spPr>
          <a:xfrm>
            <a:off x="6233008" y="1417320"/>
            <a:ext cx="2567864" cy="3200400"/>
          </a:xfrm>
          <a:prstGeom prst="roundRect">
            <a:avLst>
              <a:gd name="adj" fmla="val 3561"/>
            </a:avLst>
          </a:prstGeom>
          <a:solidFill>
            <a:schemeClr val="bg2"/>
          </a:solidFill>
          <a:ln/>
          <a:effectLst>
            <a:outerShdw blurRad="101600" dist="25400" dir="5400000" algn="bl" rotWithShape="0">
              <a:srgbClr val="0B1F3A">
                <a:alpha val="12000"/>
              </a:srgbClr>
            </a:outerShdw>
          </a:effectLst>
        </p:spPr>
      </p:sp>
      <p:sp>
        <p:nvSpPr>
          <p:cNvPr id="14" name="GitHub badge"/>
          <p:cNvSpPr/>
          <p:nvPr/>
        </p:nvSpPr>
        <p:spPr>
          <a:xfrm>
            <a:off x="6507328" y="1737360"/>
            <a:ext cx="777240" cy="777240"/>
          </a:xfrm>
          <a:prstGeom prst="ellipse">
            <a:avLst/>
          </a:prstGeom>
          <a:solidFill>
            <a:schemeClr val="accent1"/>
          </a:solidFill>
          <a:ln/>
        </p:spPr>
      </p:sp>
      <p:pic>
        <p:nvPicPr>
          <p:cNvPr id="15" name="GitHub icon" descr="GitHub icon"/>
          <p:cNvPicPr>
            <a:picLocks noChangeAspect="1"/>
          </p:cNvPicPr>
          <p:nvPr/>
        </p:nvPicPr>
        <p:blipFill>
          <a:blip r:embed="rId5"/>
          <a:stretch>
            <a:fillRect/>
          </a:stretch>
        </p:blipFill>
        <p:spPr>
          <a:xfrm>
            <a:off x="6709410" y="1939442"/>
            <a:ext cx="373075" cy="373075"/>
          </a:xfrm>
          <a:prstGeom prst="rect">
            <a:avLst/>
          </a:prstGeom>
        </p:spPr>
      </p:pic>
      <p:sp>
        <p:nvSpPr>
          <p:cNvPr id="16" name="GitHub"/>
          <p:cNvSpPr txBox="1"/>
          <p:nvPr/>
        </p:nvSpPr>
        <p:spPr>
          <a:xfrm>
            <a:off x="6507328" y="2697480"/>
            <a:ext cx="2110664" cy="365760"/>
          </a:xfrm>
          <a:prstGeom prst="rect">
            <a:avLst/>
          </a:prstGeom>
          <a:noFill/>
          <a:ln/>
        </p:spPr>
        <p:txBody>
          <a:bodyPr wrap="square" lIns="0" tIns="0" rIns="0" bIns="0" rtlCol="0" anchor="t"/>
          <a:lstStyle/>
          <a:p>
            <a:pPr marL="0" indent="0">
              <a:buNone/>
            </a:pPr>
            <a:r>
              <a:rPr lang="en-US" sz="2000" b="1" dirty="0">
                <a:solidFill>
                  <a:schemeClr val="tx1"/>
                </a:solidFill>
              </a:rPr>
              <a:t>GitHub</a:t>
            </a:r>
            <a:endParaRPr lang="en-US" sz="2000" dirty="0"/>
          </a:p>
        </p:txBody>
      </p:sp>
      <p:sp>
        <p:nvSpPr>
          <p:cNvPr id="17" name="GitHub points"/>
          <p:cNvSpPr txBox="1"/>
          <p:nvPr/>
        </p:nvSpPr>
        <p:spPr>
          <a:xfrm>
            <a:off x="6507328" y="3200400"/>
            <a:ext cx="2110664" cy="13258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Source-code hosting</a:t>
            </a:r>
            <a:endParaRPr lang="en-US" sz="1400" dirty="0"/>
          </a:p>
          <a:p>
            <a:pPr marL="177800" indent="-177800">
              <a:spcAft>
                <a:spcPts val="400"/>
              </a:spcAft>
              <a:buSzPct val="100000"/>
              <a:buChar char="•"/>
            </a:pPr>
            <a:r>
              <a:rPr lang="en-US" sz="1400" dirty="0">
                <a:solidFill>
                  <a:schemeClr val="tx1"/>
                </a:solidFill>
              </a:rPr>
              <a:t>GitHub Actions CI workflow</a:t>
            </a:r>
            <a:endParaRPr lang="en-US" sz="1400" dirty="0"/>
          </a:p>
          <a:p>
            <a:pPr marL="177800" indent="-177800">
              <a:spcAft>
                <a:spcPts val="400"/>
              </a:spcAft>
              <a:buSzPct val="100000"/>
              <a:buChar char="•"/>
            </a:pPr>
            <a:r>
              <a:rPr lang="en-US" sz="1400" dirty="0">
                <a:solidFill>
                  <a:schemeClr val="tx1"/>
                </a:solidFill>
              </a:rPr>
              <a:t>MIT licensed</a:t>
            </a:r>
            <a:endParaRPr lang="en-US" sz="1400" dirty="0"/>
          </a:p>
        </p:txBody>
      </p:sp>
      <p:sp>
        <p:nvSpPr>
          <p:cNvPr id="18" name="Stack card Python"/>
          <p:cNvSpPr/>
          <p:nvPr/>
        </p:nvSpPr>
        <p:spPr>
          <a:xfrm>
            <a:off x="9075191" y="1417320"/>
            <a:ext cx="2567864" cy="3200400"/>
          </a:xfrm>
          <a:prstGeom prst="roundRect">
            <a:avLst>
              <a:gd name="adj" fmla="val 3561"/>
            </a:avLst>
          </a:prstGeom>
          <a:solidFill>
            <a:schemeClr val="bg2"/>
          </a:solidFill>
          <a:ln/>
          <a:effectLst>
            <a:outerShdw blurRad="101600" dist="25400" dir="5400000" algn="bl" rotWithShape="0">
              <a:srgbClr val="0B1F3A">
                <a:alpha val="12000"/>
              </a:srgbClr>
            </a:outerShdw>
          </a:effectLst>
        </p:spPr>
      </p:sp>
      <p:sp>
        <p:nvSpPr>
          <p:cNvPr id="19" name="Python badge"/>
          <p:cNvSpPr/>
          <p:nvPr/>
        </p:nvSpPr>
        <p:spPr>
          <a:xfrm>
            <a:off x="9349511" y="1737360"/>
            <a:ext cx="777240" cy="777240"/>
          </a:xfrm>
          <a:prstGeom prst="ellipse">
            <a:avLst/>
          </a:prstGeom>
          <a:solidFill>
            <a:schemeClr val="accent3"/>
          </a:solidFill>
          <a:ln/>
        </p:spPr>
      </p:sp>
      <p:pic>
        <p:nvPicPr>
          <p:cNvPr id="20" name="Python icon" descr="Python icon"/>
          <p:cNvPicPr>
            <a:picLocks noChangeAspect="1"/>
          </p:cNvPicPr>
          <p:nvPr/>
        </p:nvPicPr>
        <p:blipFill>
          <a:blip r:embed="rId6"/>
          <a:stretch>
            <a:fillRect/>
          </a:stretch>
        </p:blipFill>
        <p:spPr>
          <a:xfrm>
            <a:off x="9551594" y="1939442"/>
            <a:ext cx="373075" cy="373075"/>
          </a:xfrm>
          <a:prstGeom prst="rect">
            <a:avLst/>
          </a:prstGeom>
        </p:spPr>
      </p:pic>
      <p:sp>
        <p:nvSpPr>
          <p:cNvPr id="21" name="Python"/>
          <p:cNvSpPr txBox="1"/>
          <p:nvPr/>
        </p:nvSpPr>
        <p:spPr>
          <a:xfrm>
            <a:off x="9349511" y="2697480"/>
            <a:ext cx="2110664" cy="365760"/>
          </a:xfrm>
          <a:prstGeom prst="rect">
            <a:avLst/>
          </a:prstGeom>
          <a:noFill/>
          <a:ln/>
        </p:spPr>
        <p:txBody>
          <a:bodyPr wrap="square" lIns="0" tIns="0" rIns="0" bIns="0" rtlCol="0" anchor="t"/>
          <a:lstStyle/>
          <a:p>
            <a:pPr marL="0" indent="0">
              <a:buNone/>
            </a:pPr>
            <a:r>
              <a:rPr lang="en-US" sz="2000" b="1" dirty="0">
                <a:solidFill>
                  <a:schemeClr val="tx1"/>
                </a:solidFill>
              </a:rPr>
              <a:t>Python</a:t>
            </a:r>
            <a:endParaRPr lang="en-US" sz="2000" dirty="0"/>
          </a:p>
        </p:txBody>
      </p:sp>
      <p:sp>
        <p:nvSpPr>
          <p:cNvPr id="22" name="Python points"/>
          <p:cNvSpPr txBox="1"/>
          <p:nvPr/>
        </p:nvSpPr>
        <p:spPr>
          <a:xfrm>
            <a:off x="9349511" y="3200400"/>
            <a:ext cx="2110664" cy="13258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Supporting role only</a:t>
            </a:r>
            <a:endParaRPr lang="en-US" sz="1400" dirty="0"/>
          </a:p>
          <a:p>
            <a:pPr marL="177800" indent="-177800">
              <a:spcAft>
                <a:spcPts val="400"/>
              </a:spcAft>
              <a:buSzPct val="100000"/>
              <a:buChar char="•"/>
            </a:pPr>
            <a:r>
              <a:rPr lang="en-US" sz="1400" dirty="0">
                <a:solidFill>
                  <a:schemeClr val="tx1"/>
                </a:solidFill>
              </a:rPr>
              <a:t>Local CLI demo and tests</a:t>
            </a:r>
            <a:endParaRPr lang="en-US" sz="1400" dirty="0"/>
          </a:p>
          <a:p>
            <a:pPr marL="177800" indent="-177800">
              <a:spcAft>
                <a:spcPts val="400"/>
              </a:spcAft>
              <a:buSzPct val="100000"/>
              <a:buChar char="•"/>
            </a:pPr>
            <a:r>
              <a:rPr lang="en-US" sz="1400" dirty="0">
                <a:solidFill>
                  <a:schemeClr val="tx1"/>
                </a:solidFill>
              </a:rPr>
              <a:t>Per the README</a:t>
            </a:r>
            <a:endParaRPr lang="en-US" sz="1400" dirty="0"/>
          </a:p>
        </p:txBody>
      </p:sp>
      <p:sp>
        <p:nvSpPr>
          <p:cNvPr id="23" name="Not-used panel"/>
          <p:cNvSpPr/>
          <p:nvPr/>
        </p:nvSpPr>
        <p:spPr>
          <a:xfrm>
            <a:off x="548640" y="4892040"/>
            <a:ext cx="11094415" cy="1234440"/>
          </a:xfrm>
          <a:prstGeom prst="roundRect">
            <a:avLst>
              <a:gd name="adj" fmla="val 7407"/>
            </a:avLst>
          </a:prstGeom>
          <a:solidFill>
            <a:schemeClr val="bg1"/>
          </a:solidFill>
          <a:ln w="19050">
            <a:solidFill>
              <a:schemeClr val="accent2"/>
            </a:solidFill>
            <a:prstDash val="solid"/>
          </a:ln>
        </p:spPr>
      </p:sp>
      <p:sp>
        <p:nvSpPr>
          <p:cNvPr id="24" name="Not-used title"/>
          <p:cNvSpPr txBox="1"/>
          <p:nvPr/>
        </p:nvSpPr>
        <p:spPr>
          <a:xfrm>
            <a:off x="822960" y="5010912"/>
            <a:ext cx="4572000" cy="320040"/>
          </a:xfrm>
          <a:prstGeom prst="rect">
            <a:avLst/>
          </a:prstGeom>
          <a:noFill/>
          <a:ln/>
        </p:spPr>
        <p:txBody>
          <a:bodyPr wrap="square" lIns="0" tIns="0" rIns="0" bIns="0" rtlCol="0" anchor="t"/>
          <a:lstStyle/>
          <a:p>
            <a:pPr marL="0" indent="0">
              <a:buNone/>
            </a:pPr>
            <a:r>
              <a:rPr lang="en-US" sz="1600" b="1" dirty="0">
                <a:solidFill>
                  <a:schemeClr val="accent2"/>
                </a:solidFill>
              </a:rPr>
              <a:t>Not used in this project</a:t>
            </a:r>
            <a:endParaRPr lang="en-US" sz="1600" dirty="0"/>
          </a:p>
        </p:txBody>
      </p:sp>
      <p:pic>
        <p:nvPicPr>
          <p:cNvPr id="25" name="X icon 1" descr="Not used"/>
          <p:cNvPicPr>
            <a:picLocks noChangeAspect="1"/>
          </p:cNvPicPr>
          <p:nvPr/>
        </p:nvPicPr>
        <p:blipFill>
          <a:blip r:embed="rId7"/>
          <a:stretch>
            <a:fillRect/>
          </a:stretch>
        </p:blipFill>
        <p:spPr>
          <a:xfrm>
            <a:off x="822960" y="5559552"/>
            <a:ext cx="310896" cy="310896"/>
          </a:xfrm>
          <a:prstGeom prst="rect">
            <a:avLst/>
          </a:prstGeom>
        </p:spPr>
      </p:pic>
      <p:sp>
        <p:nvSpPr>
          <p:cNvPr id="26" name="Not used Machine learning"/>
          <p:cNvSpPr txBox="1"/>
          <p:nvPr/>
        </p:nvSpPr>
        <p:spPr>
          <a:xfrm>
            <a:off x="1234440" y="5532120"/>
            <a:ext cx="2194560" cy="365760"/>
          </a:xfrm>
          <a:prstGeom prst="rect">
            <a:avLst/>
          </a:prstGeom>
          <a:noFill/>
          <a:ln/>
        </p:spPr>
        <p:txBody>
          <a:bodyPr wrap="square" lIns="0" tIns="0" rIns="0" bIns="0" rtlCol="0" anchor="ctr"/>
          <a:lstStyle/>
          <a:p>
            <a:pPr marL="0" indent="0">
              <a:buNone/>
            </a:pPr>
            <a:r>
              <a:rPr lang="en-US" sz="1500" b="1" dirty="0">
                <a:solidFill>
                  <a:schemeClr val="tx1"/>
                </a:solidFill>
              </a:rPr>
              <a:t>Machine learning</a:t>
            </a:r>
            <a:endParaRPr lang="en-US" sz="1500" dirty="0"/>
          </a:p>
        </p:txBody>
      </p:sp>
      <p:pic>
        <p:nvPicPr>
          <p:cNvPr id="27" name="X icon 2" descr="Not used"/>
          <p:cNvPicPr>
            <a:picLocks noChangeAspect="1"/>
          </p:cNvPicPr>
          <p:nvPr/>
        </p:nvPicPr>
        <p:blipFill>
          <a:blip r:embed="rId7"/>
          <a:stretch>
            <a:fillRect/>
          </a:stretch>
        </p:blipFill>
        <p:spPr>
          <a:xfrm>
            <a:off x="3520440" y="5559552"/>
            <a:ext cx="310896" cy="310896"/>
          </a:xfrm>
          <a:prstGeom prst="rect">
            <a:avLst/>
          </a:prstGeom>
        </p:spPr>
      </p:pic>
      <p:sp>
        <p:nvSpPr>
          <p:cNvPr id="28" name="Not used AI models"/>
          <p:cNvSpPr txBox="1"/>
          <p:nvPr/>
        </p:nvSpPr>
        <p:spPr>
          <a:xfrm>
            <a:off x="3931920" y="5532120"/>
            <a:ext cx="2194560" cy="365760"/>
          </a:xfrm>
          <a:prstGeom prst="rect">
            <a:avLst/>
          </a:prstGeom>
          <a:noFill/>
          <a:ln/>
        </p:spPr>
        <p:txBody>
          <a:bodyPr wrap="square" lIns="0" tIns="0" rIns="0" bIns="0" rtlCol="0" anchor="ctr"/>
          <a:lstStyle/>
          <a:p>
            <a:pPr marL="0" indent="0">
              <a:buNone/>
            </a:pPr>
            <a:r>
              <a:rPr lang="en-US" sz="1500" b="1" dirty="0">
                <a:solidFill>
                  <a:schemeClr val="tx1"/>
                </a:solidFill>
              </a:rPr>
              <a:t>AI models</a:t>
            </a:r>
            <a:endParaRPr lang="en-US" sz="1500" dirty="0"/>
          </a:p>
        </p:txBody>
      </p:sp>
      <p:pic>
        <p:nvPicPr>
          <p:cNvPr id="29" name="X icon 3" descr="Not used"/>
          <p:cNvPicPr>
            <a:picLocks noChangeAspect="1"/>
          </p:cNvPicPr>
          <p:nvPr/>
        </p:nvPicPr>
        <p:blipFill>
          <a:blip r:embed="rId7"/>
          <a:stretch>
            <a:fillRect/>
          </a:stretch>
        </p:blipFill>
        <p:spPr>
          <a:xfrm>
            <a:off x="6217920" y="5559552"/>
            <a:ext cx="310896" cy="310896"/>
          </a:xfrm>
          <a:prstGeom prst="rect">
            <a:avLst/>
          </a:prstGeom>
        </p:spPr>
      </p:pic>
      <p:sp>
        <p:nvSpPr>
          <p:cNvPr id="30" name="Not used External APIs"/>
          <p:cNvSpPr txBox="1"/>
          <p:nvPr/>
        </p:nvSpPr>
        <p:spPr>
          <a:xfrm>
            <a:off x="6629400" y="5532120"/>
            <a:ext cx="2194560" cy="365760"/>
          </a:xfrm>
          <a:prstGeom prst="rect">
            <a:avLst/>
          </a:prstGeom>
          <a:noFill/>
          <a:ln/>
        </p:spPr>
        <p:txBody>
          <a:bodyPr wrap="square" lIns="0" tIns="0" rIns="0" bIns="0" rtlCol="0" anchor="ctr"/>
          <a:lstStyle/>
          <a:p>
            <a:pPr marL="0" indent="0">
              <a:buNone/>
            </a:pPr>
            <a:r>
              <a:rPr lang="en-US" sz="1500" b="1" dirty="0">
                <a:solidFill>
                  <a:schemeClr val="tx1"/>
                </a:solidFill>
              </a:rPr>
              <a:t>External APIs</a:t>
            </a:r>
            <a:endParaRPr lang="en-US" sz="1500" dirty="0"/>
          </a:p>
        </p:txBody>
      </p:sp>
      <p:pic>
        <p:nvPicPr>
          <p:cNvPr id="31" name="X icon 4" descr="Not used"/>
          <p:cNvPicPr>
            <a:picLocks noChangeAspect="1"/>
          </p:cNvPicPr>
          <p:nvPr/>
        </p:nvPicPr>
        <p:blipFill>
          <a:blip r:embed="rId7"/>
          <a:stretch>
            <a:fillRect/>
          </a:stretch>
        </p:blipFill>
        <p:spPr>
          <a:xfrm>
            <a:off x="8915400" y="5559552"/>
            <a:ext cx="310896" cy="310896"/>
          </a:xfrm>
          <a:prstGeom prst="rect">
            <a:avLst/>
          </a:prstGeom>
        </p:spPr>
      </p:pic>
      <p:sp>
        <p:nvSpPr>
          <p:cNvPr id="32" name="Not used Frontend / dashboard"/>
          <p:cNvSpPr txBox="1"/>
          <p:nvPr/>
        </p:nvSpPr>
        <p:spPr>
          <a:xfrm>
            <a:off x="9326880" y="5532120"/>
            <a:ext cx="2194560" cy="365760"/>
          </a:xfrm>
          <a:prstGeom prst="rect">
            <a:avLst/>
          </a:prstGeom>
          <a:noFill/>
          <a:ln/>
        </p:spPr>
        <p:txBody>
          <a:bodyPr wrap="square" lIns="0" tIns="0" rIns="0" bIns="0" rtlCol="0" anchor="ctr"/>
          <a:lstStyle/>
          <a:p>
            <a:pPr marL="0" indent="0">
              <a:buNone/>
            </a:pPr>
            <a:r>
              <a:rPr lang="en-US" sz="1500" b="1" dirty="0">
                <a:solidFill>
                  <a:schemeClr val="tx1"/>
                </a:solidFill>
              </a:rPr>
              <a:t>Frontend / dashboard</a:t>
            </a:r>
            <a:endParaRPr lang="en-US" sz="1500" dirty="0"/>
          </a:p>
        </p:txBody>
      </p:sp>
      <p:sp>
        <p:nvSpPr>
          <p:cNvPr id="33"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Detection Logic</a:t>
            </a:r>
            <a:endParaRPr lang="en-US" sz="3600" dirty="0"/>
          </a:p>
        </p:txBody>
      </p:sp>
      <p:sp>
        <p:nvSpPr>
          <p:cNvPr id="3" name="Rule card 1"/>
          <p:cNvSpPr/>
          <p:nvPr/>
        </p:nvSpPr>
        <p:spPr>
          <a:xfrm>
            <a:off x="548640" y="1417320"/>
            <a:ext cx="4983480" cy="1097280"/>
          </a:xfrm>
          <a:prstGeom prst="roundRect">
            <a:avLst>
              <a:gd name="adj" fmla="val 8333"/>
            </a:avLst>
          </a:prstGeom>
          <a:solidFill>
            <a:schemeClr val="bg2"/>
          </a:solidFill>
          <a:ln/>
          <a:effectLst>
            <a:outerShdw blurRad="101600" dist="25400" dir="5400000" algn="bl" rotWithShape="0">
              <a:srgbClr val="0B1F3A">
                <a:alpha val="12000"/>
              </a:srgbClr>
            </a:outerShdw>
          </a:effectLst>
        </p:spPr>
      </p:sp>
      <p:sp>
        <p:nvSpPr>
          <p:cNvPr id="4" name="Duplicate detection badge"/>
          <p:cNvSpPr/>
          <p:nvPr/>
        </p:nvSpPr>
        <p:spPr>
          <a:xfrm>
            <a:off x="731520" y="1645920"/>
            <a:ext cx="640080" cy="640080"/>
          </a:xfrm>
          <a:prstGeom prst="ellipse">
            <a:avLst/>
          </a:prstGeom>
          <a:solidFill>
            <a:schemeClr val="accent1"/>
          </a:solidFill>
          <a:ln/>
        </p:spPr>
      </p:sp>
      <p:pic>
        <p:nvPicPr>
          <p:cNvPr id="5" name="Duplicate detection icon" descr="Duplicate detection icon"/>
          <p:cNvPicPr>
            <a:picLocks noChangeAspect="1"/>
          </p:cNvPicPr>
          <p:nvPr/>
        </p:nvPicPr>
        <p:blipFill>
          <a:blip r:embed="rId3"/>
          <a:stretch>
            <a:fillRect/>
          </a:stretch>
        </p:blipFill>
        <p:spPr>
          <a:xfrm>
            <a:off x="897941" y="1812341"/>
            <a:ext cx="307238" cy="307238"/>
          </a:xfrm>
          <a:prstGeom prst="rect">
            <a:avLst/>
          </a:prstGeom>
        </p:spPr>
      </p:pic>
      <p:sp>
        <p:nvSpPr>
          <p:cNvPr id="6" name="Duplicate detection"/>
          <p:cNvSpPr txBox="1"/>
          <p:nvPr/>
        </p:nvSpPr>
        <p:spPr>
          <a:xfrm>
            <a:off x="1554480" y="1545336"/>
            <a:ext cx="3108960" cy="320040"/>
          </a:xfrm>
          <a:prstGeom prst="rect">
            <a:avLst/>
          </a:prstGeom>
          <a:noFill/>
          <a:ln/>
        </p:spPr>
        <p:txBody>
          <a:bodyPr wrap="square" lIns="0" tIns="0" rIns="0" bIns="0" rtlCol="0" anchor="t"/>
          <a:lstStyle/>
          <a:p>
            <a:pPr marL="0" indent="0">
              <a:buNone/>
            </a:pPr>
            <a:r>
              <a:rPr lang="en-US" sz="1700" b="1" dirty="0">
                <a:solidFill>
                  <a:schemeClr val="tx1"/>
                </a:solidFill>
              </a:rPr>
              <a:t>Duplicate detection</a:t>
            </a:r>
            <a:endParaRPr lang="en-US" sz="1700" dirty="0"/>
          </a:p>
        </p:txBody>
      </p:sp>
      <p:sp>
        <p:nvSpPr>
          <p:cNvPr id="7" name="Duplicate detection criteria"/>
          <p:cNvSpPr txBox="1"/>
          <p:nvPr/>
        </p:nvSpPr>
        <p:spPr>
          <a:xfrm>
            <a:off x="1554480" y="1874520"/>
            <a:ext cx="3108960" cy="548640"/>
          </a:xfrm>
          <a:prstGeom prst="rect">
            <a:avLst/>
          </a:prstGeom>
          <a:noFill/>
          <a:ln/>
        </p:spPr>
        <p:txBody>
          <a:bodyPr wrap="square" lIns="0" tIns="0" rIns="0" bIns="0" rtlCol="0" anchor="t"/>
          <a:lstStyle/>
          <a:p>
            <a:pPr marL="0" indent="0">
              <a:buNone/>
            </a:pPr>
            <a:r>
              <a:rPr lang="en-US" sz="1400" dirty="0">
                <a:solidFill>
                  <a:schemeClr val="tx1"/>
                </a:solidFill>
              </a:rPr>
              <a:t>Same account, amount and merchant appear more than once</a:t>
            </a:r>
            <a:endParaRPr lang="en-US" sz="1400" dirty="0"/>
          </a:p>
        </p:txBody>
      </p:sp>
      <p:sp>
        <p:nvSpPr>
          <p:cNvPr id="8" name="Pill +35 pts"/>
          <p:cNvSpPr/>
          <p:nvPr/>
        </p:nvSpPr>
        <p:spPr>
          <a:xfrm>
            <a:off x="4663440" y="1783080"/>
            <a:ext cx="73152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300" b="1" dirty="0">
                <a:solidFill>
                  <a:schemeClr val="bg1"/>
                </a:solidFill>
              </a:rPr>
              <a:t>+35 pts</a:t>
            </a:r>
            <a:endParaRPr lang="en-US" sz="1300" dirty="0"/>
          </a:p>
        </p:txBody>
      </p:sp>
      <p:sp>
        <p:nvSpPr>
          <p:cNvPr id="9" name="Rule card 2"/>
          <p:cNvSpPr/>
          <p:nvPr/>
        </p:nvSpPr>
        <p:spPr>
          <a:xfrm>
            <a:off x="548640" y="2697480"/>
            <a:ext cx="4983480" cy="1097280"/>
          </a:xfrm>
          <a:prstGeom prst="roundRect">
            <a:avLst>
              <a:gd name="adj" fmla="val 8333"/>
            </a:avLst>
          </a:prstGeom>
          <a:solidFill>
            <a:schemeClr val="bg2"/>
          </a:solidFill>
          <a:ln/>
          <a:effectLst>
            <a:outerShdw blurRad="101600" dist="25400" dir="5400000" algn="bl" rotWithShape="0">
              <a:srgbClr val="0B1F3A">
                <a:alpha val="12000"/>
              </a:srgbClr>
            </a:outerShdw>
          </a:effectLst>
        </p:spPr>
      </p:sp>
      <p:sp>
        <p:nvSpPr>
          <p:cNvPr id="10" name="High-value detection badge"/>
          <p:cNvSpPr/>
          <p:nvPr/>
        </p:nvSpPr>
        <p:spPr>
          <a:xfrm>
            <a:off x="731520" y="2926080"/>
            <a:ext cx="640080" cy="640080"/>
          </a:xfrm>
          <a:prstGeom prst="ellipse">
            <a:avLst/>
          </a:prstGeom>
          <a:solidFill>
            <a:schemeClr val="accent1"/>
          </a:solidFill>
          <a:ln/>
        </p:spPr>
      </p:sp>
      <p:pic>
        <p:nvPicPr>
          <p:cNvPr id="11" name="High-value detection icon" descr="High-value detection icon"/>
          <p:cNvPicPr>
            <a:picLocks noChangeAspect="1"/>
          </p:cNvPicPr>
          <p:nvPr/>
        </p:nvPicPr>
        <p:blipFill>
          <a:blip r:embed="rId4"/>
          <a:stretch>
            <a:fillRect/>
          </a:stretch>
        </p:blipFill>
        <p:spPr>
          <a:xfrm>
            <a:off x="897941" y="3092501"/>
            <a:ext cx="307238" cy="307238"/>
          </a:xfrm>
          <a:prstGeom prst="rect">
            <a:avLst/>
          </a:prstGeom>
        </p:spPr>
      </p:pic>
      <p:sp>
        <p:nvSpPr>
          <p:cNvPr id="12" name="High-value detection"/>
          <p:cNvSpPr txBox="1"/>
          <p:nvPr/>
        </p:nvSpPr>
        <p:spPr>
          <a:xfrm>
            <a:off x="1554480" y="2825496"/>
            <a:ext cx="3108960" cy="320040"/>
          </a:xfrm>
          <a:prstGeom prst="rect">
            <a:avLst/>
          </a:prstGeom>
          <a:noFill/>
          <a:ln/>
        </p:spPr>
        <p:txBody>
          <a:bodyPr wrap="square" lIns="0" tIns="0" rIns="0" bIns="0" rtlCol="0" anchor="t"/>
          <a:lstStyle/>
          <a:p>
            <a:pPr marL="0" indent="0">
              <a:buNone/>
            </a:pPr>
            <a:r>
              <a:rPr lang="en-US" sz="1700" b="1" dirty="0">
                <a:solidFill>
                  <a:schemeClr val="tx1"/>
                </a:solidFill>
              </a:rPr>
              <a:t>High-value detection</a:t>
            </a:r>
            <a:endParaRPr lang="en-US" sz="1700" dirty="0"/>
          </a:p>
        </p:txBody>
      </p:sp>
      <p:sp>
        <p:nvSpPr>
          <p:cNvPr id="13" name="High-value detection criteria"/>
          <p:cNvSpPr txBox="1"/>
          <p:nvPr/>
        </p:nvSpPr>
        <p:spPr>
          <a:xfrm>
            <a:off x="1554480" y="3154680"/>
            <a:ext cx="3108960" cy="548640"/>
          </a:xfrm>
          <a:prstGeom prst="rect">
            <a:avLst/>
          </a:prstGeom>
          <a:noFill/>
          <a:ln/>
        </p:spPr>
        <p:txBody>
          <a:bodyPr wrap="square" lIns="0" tIns="0" rIns="0" bIns="0" rtlCol="0" anchor="t"/>
          <a:lstStyle/>
          <a:p>
            <a:pPr marL="0" indent="0">
              <a:buNone/>
            </a:pPr>
            <a:r>
              <a:rPr lang="en-US" sz="1400" dirty="0">
                <a:solidFill>
                  <a:schemeClr val="tx1"/>
                </a:solidFill>
              </a:rPr>
              <a:t>Amount ≥ 25,000.00</a:t>
            </a:r>
            <a:endParaRPr lang="en-US" sz="1400" dirty="0"/>
          </a:p>
        </p:txBody>
      </p:sp>
      <p:sp>
        <p:nvSpPr>
          <p:cNvPr id="14" name="Pill +40 pts"/>
          <p:cNvSpPr/>
          <p:nvPr/>
        </p:nvSpPr>
        <p:spPr>
          <a:xfrm>
            <a:off x="4663440" y="3063240"/>
            <a:ext cx="73152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300" b="1" dirty="0">
                <a:solidFill>
                  <a:schemeClr val="bg1"/>
                </a:solidFill>
              </a:rPr>
              <a:t>+40 pts</a:t>
            </a:r>
            <a:endParaRPr lang="en-US" sz="1300" dirty="0"/>
          </a:p>
        </p:txBody>
      </p:sp>
      <p:sp>
        <p:nvSpPr>
          <p:cNvPr id="15" name="Rule card 3"/>
          <p:cNvSpPr/>
          <p:nvPr/>
        </p:nvSpPr>
        <p:spPr>
          <a:xfrm>
            <a:off x="548640" y="3977640"/>
            <a:ext cx="4983480" cy="1097280"/>
          </a:xfrm>
          <a:prstGeom prst="roundRect">
            <a:avLst>
              <a:gd name="adj" fmla="val 8333"/>
            </a:avLst>
          </a:prstGeom>
          <a:solidFill>
            <a:schemeClr val="bg2"/>
          </a:solidFill>
          <a:ln/>
          <a:effectLst>
            <a:outerShdw blurRad="101600" dist="25400" dir="5400000" algn="bl" rotWithShape="0">
              <a:srgbClr val="0B1F3A">
                <a:alpha val="12000"/>
              </a:srgbClr>
            </a:outerShdw>
          </a:effectLst>
        </p:spPr>
      </p:sp>
      <p:sp>
        <p:nvSpPr>
          <p:cNvPr id="16" name="High-frequency detection badge"/>
          <p:cNvSpPr/>
          <p:nvPr/>
        </p:nvSpPr>
        <p:spPr>
          <a:xfrm>
            <a:off x="731520" y="4206240"/>
            <a:ext cx="640080" cy="640080"/>
          </a:xfrm>
          <a:prstGeom prst="ellipse">
            <a:avLst/>
          </a:prstGeom>
          <a:solidFill>
            <a:schemeClr val="accent1"/>
          </a:solidFill>
          <a:ln/>
        </p:spPr>
      </p:sp>
      <p:pic>
        <p:nvPicPr>
          <p:cNvPr id="17" name="High-frequency detection icon" descr="High-frequency detection icon"/>
          <p:cNvPicPr>
            <a:picLocks noChangeAspect="1"/>
          </p:cNvPicPr>
          <p:nvPr/>
        </p:nvPicPr>
        <p:blipFill>
          <a:blip r:embed="rId5"/>
          <a:stretch>
            <a:fillRect/>
          </a:stretch>
        </p:blipFill>
        <p:spPr>
          <a:xfrm>
            <a:off x="897941" y="4372661"/>
            <a:ext cx="307238" cy="307238"/>
          </a:xfrm>
          <a:prstGeom prst="rect">
            <a:avLst/>
          </a:prstGeom>
        </p:spPr>
      </p:pic>
      <p:sp>
        <p:nvSpPr>
          <p:cNvPr id="18" name="High-frequency detection"/>
          <p:cNvSpPr txBox="1"/>
          <p:nvPr/>
        </p:nvSpPr>
        <p:spPr>
          <a:xfrm>
            <a:off x="1554480" y="4105656"/>
            <a:ext cx="3108960" cy="320040"/>
          </a:xfrm>
          <a:prstGeom prst="rect">
            <a:avLst/>
          </a:prstGeom>
          <a:noFill/>
          <a:ln/>
        </p:spPr>
        <p:txBody>
          <a:bodyPr wrap="square" lIns="0" tIns="0" rIns="0" bIns="0" rtlCol="0" anchor="t"/>
          <a:lstStyle/>
          <a:p>
            <a:pPr marL="0" indent="0">
              <a:buNone/>
            </a:pPr>
            <a:r>
              <a:rPr lang="en-US" sz="1700" b="1" dirty="0">
                <a:solidFill>
                  <a:schemeClr val="tx1"/>
                </a:solidFill>
              </a:rPr>
              <a:t>High-frequency detection</a:t>
            </a:r>
            <a:endParaRPr lang="en-US" sz="1700" dirty="0"/>
          </a:p>
        </p:txBody>
      </p:sp>
      <p:sp>
        <p:nvSpPr>
          <p:cNvPr id="19" name="High-frequency detection criteria"/>
          <p:cNvSpPr txBox="1"/>
          <p:nvPr/>
        </p:nvSpPr>
        <p:spPr>
          <a:xfrm>
            <a:off x="1554480" y="4434840"/>
            <a:ext cx="3108960" cy="548640"/>
          </a:xfrm>
          <a:prstGeom prst="rect">
            <a:avLst/>
          </a:prstGeom>
          <a:noFill/>
          <a:ln/>
        </p:spPr>
        <p:txBody>
          <a:bodyPr wrap="square" lIns="0" tIns="0" rIns="0" bIns="0" rtlCol="0" anchor="t"/>
          <a:lstStyle/>
          <a:p>
            <a:pPr marL="0" indent="0">
              <a:buNone/>
            </a:pPr>
            <a:r>
              <a:rPr lang="en-US" sz="1400" dirty="0">
                <a:solidFill>
                  <a:schemeClr val="tx1"/>
                </a:solidFill>
              </a:rPr>
              <a:t>4 or more transactions by one account on the same date</a:t>
            </a:r>
            <a:endParaRPr lang="en-US" sz="1400" dirty="0"/>
          </a:p>
        </p:txBody>
      </p:sp>
      <p:sp>
        <p:nvSpPr>
          <p:cNvPr id="20" name="Pill +25 pts"/>
          <p:cNvSpPr/>
          <p:nvPr/>
        </p:nvSpPr>
        <p:spPr>
          <a:xfrm>
            <a:off x="4663440" y="4343400"/>
            <a:ext cx="73152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300" b="1" dirty="0">
                <a:solidFill>
                  <a:schemeClr val="bg1"/>
                </a:solidFill>
              </a:rPr>
              <a:t>+25 pts</a:t>
            </a:r>
            <a:endParaRPr lang="en-US" sz="1300" dirty="0"/>
          </a:p>
        </p:txBody>
      </p:sp>
      <p:sp>
        <p:nvSpPr>
          <p:cNvPr id="21" name="Fixed threshold note"/>
          <p:cNvSpPr/>
          <p:nvPr/>
        </p:nvSpPr>
        <p:spPr>
          <a:xfrm>
            <a:off x="548640" y="5303520"/>
            <a:ext cx="4983480" cy="822960"/>
          </a:xfrm>
          <a:prstGeom prst="roundRect">
            <a:avLst>
              <a:gd name="adj" fmla="val 11111"/>
            </a:avLst>
          </a:prstGeom>
          <a:solidFill>
            <a:schemeClr val="accent2">
              <a:alpha val="12000"/>
            </a:schemeClr>
          </a:solidFill>
          <a:ln w="15875">
            <a:solidFill>
              <a:schemeClr val="accent2"/>
            </a:solidFill>
            <a:prstDash val="solid"/>
          </a:ln>
        </p:spPr>
      </p:sp>
      <p:sp>
        <p:nvSpPr>
          <p:cNvPr id="22" name="Fixed threshold text"/>
          <p:cNvSpPr txBox="1"/>
          <p:nvPr/>
        </p:nvSpPr>
        <p:spPr>
          <a:xfrm>
            <a:off x="731520" y="5303520"/>
            <a:ext cx="4617720" cy="822960"/>
          </a:xfrm>
          <a:prstGeom prst="rect">
            <a:avLst/>
          </a:prstGeom>
          <a:noFill/>
          <a:ln/>
        </p:spPr>
        <p:txBody>
          <a:bodyPr wrap="square" lIns="0" tIns="0" rIns="0" bIns="0" rtlCol="0" anchor="ctr"/>
          <a:lstStyle/>
          <a:p>
            <a:pPr marL="0" indent="0">
              <a:buNone/>
            </a:pPr>
            <a:r>
              <a:rPr lang="en-US" sz="1400" b="1" dirty="0">
                <a:solidFill>
                  <a:schemeClr val="tx1"/>
                </a:solidFill>
              </a:rPr>
              <a:t>Fixed thresholds: </a:t>
            </a:r>
            <a:r>
              <a:rPr lang="en-US" sz="1400" dirty="0">
                <a:solidFill>
                  <a:schemeClr val="tx1"/>
                </a:solidFill>
              </a:rPr>
              <a:t>limits and weights are hard-coded in the SQL, not configurable yet.</a:t>
            </a:r>
            <a:endParaRPr lang="en-US" sz="1400" dirty="0"/>
          </a:p>
        </p:txBody>
      </p:sp>
      <p:sp>
        <p:nvSpPr>
          <p:cNvPr id="23" name="Code panel"/>
          <p:cNvSpPr/>
          <p:nvPr/>
        </p:nvSpPr>
        <p:spPr>
          <a:xfrm>
            <a:off x="5760720" y="1417320"/>
            <a:ext cx="5879592" cy="3566160"/>
          </a:xfrm>
          <a:prstGeom prst="roundRect">
            <a:avLst>
              <a:gd name="adj" fmla="val 2564"/>
            </a:avLst>
          </a:prstGeom>
          <a:solidFill>
            <a:schemeClr val="tx1"/>
          </a:solidFill>
          <a:ln/>
        </p:spPr>
      </p:sp>
      <p:sp>
        <p:nvSpPr>
          <p:cNvPr id="24" name="SQL excerpt"/>
          <p:cNvSpPr txBox="1"/>
          <p:nvPr/>
        </p:nvSpPr>
        <p:spPr>
          <a:xfrm>
            <a:off x="5989320" y="1554480"/>
            <a:ext cx="5486400" cy="3291840"/>
          </a:xfrm>
          <a:prstGeom prst="rect">
            <a:avLst/>
          </a:prstGeom>
          <a:noFill/>
          <a:ln/>
        </p:spPr>
        <p:txBody>
          <a:bodyPr wrap="square" lIns="0" tIns="0" rIns="0" bIns="0" rtlCol="0" anchor="t"/>
          <a:lstStyle/>
          <a:p>
            <a:pPr marL="0" indent="0">
              <a:buNone/>
            </a:pPr>
            <a:r>
              <a:rPr lang="en-US" sz="1200" dirty="0">
                <a:solidFill>
                  <a:schemeClr val="accent4"/>
                </a:solidFill>
                <a:latin typeface="Courier New" pitchFamily="34" charset="0"/>
                <a:ea typeface="Courier New" pitchFamily="34" charset="-122"/>
                <a:cs typeface="Courier New" pitchFamily="34" charset="-120"/>
              </a:rPr>
              <a:t>-- V_SUSPICIOUS_TRANSACTIONS (excerpt)</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COUNT(*) OVER (</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PARTITION BY ACCOUNT_ID, AMOUNT, MERCHANT</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AS DUPLICATE_COUNT,</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COUNT(*) OVER (</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PARTITION BY ACCOUNT_ID,</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CAST(TRANSACTION_TIME AS DATE)</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AS DAILY_TRANSACTION_COUNT,</a:t>
            </a:r>
            <a:endParaRPr lang="en-US" sz="1200" dirty="0"/>
          </a:p>
          <a:p>
            <a:pPr marL="0" indent="0">
              <a:buNone/>
            </a:pPr>
            <a:r>
              <a:rPr lang="en-US" sz="1200" dirty="0">
                <a:solidFill>
                  <a:schemeClr val="accent5"/>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(CASE WHEN DUPLICATE_COUNT &gt; 1 THEN 35 ELSE 0 END) +</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(CASE WHEN AMOUNT &gt;= 25000.00 THEN 40 ELSE 0 END) +</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(CASE WHEN DAILY_TRANSACTION_COUNT &gt;= 4</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THEN 25 ELSE 0 END)</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AS RISK_SCORE</a:t>
            </a:r>
            <a:endParaRPr lang="en-US" sz="1200" dirty="0"/>
          </a:p>
        </p:txBody>
      </p:sp>
      <p:sp>
        <p:nvSpPr>
          <p:cNvPr id="25" name="Code caption"/>
          <p:cNvSpPr txBox="1"/>
          <p:nvPr/>
        </p:nvSpPr>
        <p:spPr>
          <a:xfrm>
            <a:off x="5989320" y="4617720"/>
            <a:ext cx="5486400" cy="274320"/>
          </a:xfrm>
          <a:prstGeom prst="rect">
            <a:avLst/>
          </a:prstGeom>
          <a:noFill/>
          <a:ln/>
        </p:spPr>
        <p:txBody>
          <a:bodyPr wrap="square" lIns="0" tIns="0" rIns="0" bIns="0" rtlCol="0" anchor="t"/>
          <a:lstStyle/>
          <a:p>
            <a:pPr marL="0" indent="0">
              <a:buNone/>
            </a:pPr>
            <a:r>
              <a:rPr lang="en-US" sz="1100" i="1" dirty="0">
                <a:solidFill>
                  <a:schemeClr val="accent5"/>
                </a:solidFill>
              </a:rPr>
              <a:t>Excerpt from transaction_guard_exasol.sql (reformatted)</a:t>
            </a:r>
            <a:endParaRPr lang="en-US" sz="1100" dirty="0"/>
          </a:p>
        </p:txBody>
      </p:sp>
      <p:sp>
        <p:nvSpPr>
          <p:cNvPr id="26" name="Severity panel"/>
          <p:cNvSpPr/>
          <p:nvPr/>
        </p:nvSpPr>
        <p:spPr>
          <a:xfrm>
            <a:off x="5760720" y="5166360"/>
            <a:ext cx="5879592" cy="960120"/>
          </a:xfrm>
          <a:prstGeom prst="roundRect">
            <a:avLst>
              <a:gd name="adj" fmla="val 9524"/>
            </a:avLst>
          </a:prstGeom>
          <a:solidFill>
            <a:schemeClr val="bg2"/>
          </a:solidFill>
          <a:ln/>
        </p:spPr>
      </p:sp>
      <p:sp>
        <p:nvSpPr>
          <p:cNvPr id="27" name="Severity text"/>
          <p:cNvSpPr txBox="1"/>
          <p:nvPr/>
        </p:nvSpPr>
        <p:spPr>
          <a:xfrm>
            <a:off x="5943600" y="5166360"/>
            <a:ext cx="5532120" cy="960120"/>
          </a:xfrm>
          <a:prstGeom prst="rect">
            <a:avLst/>
          </a:prstGeom>
          <a:noFill/>
          <a:ln/>
        </p:spPr>
        <p:txBody>
          <a:bodyPr wrap="square" lIns="0" tIns="0" rIns="0" bIns="0" rtlCol="0" anchor="ctr"/>
          <a:lstStyle/>
          <a:p>
            <a:pPr marL="0" indent="0">
              <a:buNone/>
            </a:pPr>
            <a:r>
              <a:rPr lang="en-US" sz="1400" b="1" dirty="0">
                <a:solidFill>
                  <a:schemeClr val="tx1"/>
                </a:solidFill>
              </a:rPr>
              <a:t>Score &gt; 0 → REVIEW; score 0 → NORMAL</a:t>
            </a:r>
            <a:endParaRPr lang="en-US" sz="1400" dirty="0"/>
          </a:p>
          <a:p>
            <a:pPr marL="0" indent="0">
              <a:buNone/>
            </a:pPr>
            <a:r>
              <a:rPr lang="en-US" sz="1400" dirty="0">
                <a:solidFill>
                  <a:schemeClr val="tx1"/>
                </a:solidFill>
              </a:rPr>
              <a:t>Severity: ≥ 65 CRITICAL · ≥ 35 HIGH · ≥ 25 MEDIUM · &gt; 0 LOW</a:t>
            </a:r>
            <a:endParaRPr lang="en-US" sz="1400" dirty="0"/>
          </a:p>
        </p:txBody>
      </p:sp>
      <p:sp>
        <p:nvSpPr>
          <p:cNvPr id="28"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Example Scenario</a:t>
            </a:r>
            <a:endParaRPr lang="en-US" sz="3600" dirty="0"/>
          </a:p>
        </p:txBody>
      </p:sp>
      <p:sp>
        <p:nvSpPr>
          <p:cNvPr id="3" name="Pill ILLUSTRATIVE DATA"/>
          <p:cNvSpPr/>
          <p:nvPr/>
        </p:nvSpPr>
        <p:spPr>
          <a:xfrm>
            <a:off x="9357055" y="566928"/>
            <a:ext cx="2286000" cy="384048"/>
          </a:xfrm>
          <a:prstGeom prst="roundRect">
            <a:avLst>
              <a:gd name="adj" fmla="val 50000"/>
            </a:avLst>
          </a:prstGeom>
          <a:solidFill>
            <a:schemeClr val="accent2"/>
          </a:solidFill>
          <a:ln/>
        </p:spPr>
        <p:txBody>
          <a:bodyPr wrap="square" lIns="0" tIns="0" rIns="0" bIns="0" rtlCol="0" anchor="ctr"/>
          <a:lstStyle/>
          <a:p>
            <a:pPr marL="0" indent="0" algn="ctr">
              <a:buNone/>
            </a:pPr>
            <a:r>
              <a:rPr lang="en-US" sz="1300" b="1" dirty="0">
                <a:solidFill>
                  <a:schemeClr val="bg1"/>
                </a:solidFill>
              </a:rPr>
              <a:t>ILLUSTRATIVE DATA</a:t>
            </a:r>
            <a:endParaRPr lang="en-US" sz="1300" dirty="0"/>
          </a:p>
        </p:txBody>
      </p:sp>
      <p:graphicFrame>
        <p:nvGraphicFramePr>
          <p:cNvPr id="8" name="Example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3200400"/>
        </p:xfrm>
        <a:graphic>
          <a:graphicData uri="http://schemas.openxmlformats.org/drawingml/2006/table">
            <a:tbl>
              <a:tblPr/>
              <a:tblGrid>
                <a:gridCol w="7772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4343400">
                  <a:extLst>
                    <a:ext uri="{9D8B030D-6E8A-4147-A177-3AD203B41FA5}">
                      <a16:colId xmlns:a16="http://schemas.microsoft.com/office/drawing/2014/main" val="20004"/>
                    </a:ext>
                  </a:extLst>
                </a:gridCol>
                <a:gridCol w="64008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gridCol w="896112">
                  <a:extLst>
                    <a:ext uri="{9D8B030D-6E8A-4147-A177-3AD203B41FA5}">
                      <a16:colId xmlns:a16="http://schemas.microsoft.com/office/drawing/2014/main" val="20007"/>
                    </a:ext>
                  </a:extLst>
                </a:gridCol>
              </a:tblGrid>
              <a:tr h="45720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Txn</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3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Account</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3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Merchant</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3A"/>
                    </a:solidFill>
                  </a:tcPr>
                </a:tc>
                <a:tc>
                  <a:txBody>
                    <a:bodyPr/>
                    <a:lstStyle/>
                    <a:p>
                      <a:pPr marL="0" indent="0" algn="r">
                        <a:buNone/>
                      </a:pPr>
                      <a:r>
                        <a:rPr lang="en-US" sz="1400" b="1" dirty="0">
                          <a:solidFill>
                            <a:srgbClr val="FFFFFF"/>
                          </a:solidFill>
                          <a:latin typeface="Calibri" pitchFamily="34" charset="0"/>
                          <a:ea typeface="Calibri" pitchFamily="34" charset="-122"/>
                          <a:cs typeface="Calibri" pitchFamily="34" charset="-120"/>
                        </a:rPr>
                        <a:t>Amount ($)</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3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Detection reason</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3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Score</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3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Severity</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3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3A"/>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rgbClr val="0B1F3A"/>
                          </a:solidFill>
                          <a:latin typeface="Calibri" pitchFamily="34" charset="0"/>
                          <a:ea typeface="Calibri" pitchFamily="34" charset="-122"/>
                          <a:cs typeface="Calibri" pitchFamily="34" charset="-120"/>
                        </a:rPr>
                        <a:t>EX-01</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Acct-A</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Grocery</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9525" cap="flat" cmpd="sng" algn="ctr">
                      <a:solidFill>
                        <a:srgbClr val="D5DEE8"/>
                      </a:solidFill>
                      <a:prstDash val="solid"/>
                      <a:round/>
                      <a:headEnd type="none" w="med" len="med"/>
                      <a:tailEnd type="none" w="med" len="med"/>
                    </a:lnB>
                  </a:tcPr>
                </a:tc>
                <a:tc>
                  <a:txBody>
                    <a:bodyPr/>
                    <a:lstStyle/>
                    <a:p>
                      <a:pPr marL="0" indent="0" algn="r">
                        <a:buNone/>
                      </a:pPr>
                      <a:r>
                        <a:rPr lang="en-US" sz="1400" dirty="0">
                          <a:solidFill>
                            <a:srgbClr val="0B1F3A"/>
                          </a:solidFill>
                          <a:latin typeface="Calibri" pitchFamily="34" charset="0"/>
                          <a:ea typeface="Calibri" pitchFamily="34" charset="-122"/>
                          <a:cs typeface="Calibri" pitchFamily="34" charset="-120"/>
                        </a:rPr>
                        <a:t>320.00</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5E7189"/>
                          </a:solidFill>
                          <a:latin typeface="Calibri" pitchFamily="34" charset="0"/>
                          <a:ea typeface="Calibri" pitchFamily="34" charset="-122"/>
                          <a:cs typeface="Calibri" pitchFamily="34" charset="-120"/>
                        </a:rPr>
                        <a:t>No rule triggered</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9525" cap="flat" cmpd="sng" algn="ctr">
                      <a:solidFill>
                        <a:srgbClr val="D5DEE8"/>
                      </a:solidFill>
                      <a:prstDash val="solid"/>
                      <a:round/>
                      <a:headEnd type="none" w="med" len="med"/>
                      <a:tailEnd type="none" w="med" len="med"/>
                    </a:lnB>
                  </a:tcPr>
                </a:tc>
                <a:tc>
                  <a:txBody>
                    <a:bodyPr/>
                    <a:lstStyle/>
                    <a:p>
                      <a:pPr marL="0" indent="0" algn="ctr">
                        <a:buNone/>
                      </a:pPr>
                      <a:r>
                        <a:rPr lang="en-US" sz="1400" b="1" dirty="0">
                          <a:solidFill>
                            <a:srgbClr val="0B1F3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NORMAL</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9525" cap="flat" cmpd="sng" algn="ctr">
                      <a:solidFill>
                        <a:srgbClr val="D5DEE8"/>
                      </a:solidFill>
                      <a:prstDash val="solid"/>
                      <a:round/>
                      <a:headEnd type="none" w="med" len="med"/>
                      <a:tailEnd type="none" w="med" len="med"/>
                    </a:lnB>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NORMAL</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9525" cap="flat" cmpd="sng" algn="ctr">
                      <a:solidFill>
                        <a:srgbClr val="D5DEE8"/>
                      </a:solidFill>
                      <a:prstDash val="solid"/>
                      <a:round/>
                      <a:headEnd type="none" w="med" len="med"/>
                      <a:tailEnd type="none" w="med" len="med"/>
                    </a:lnB>
                    <a:solidFill>
                      <a:srgbClr val="0B8480"/>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rgbClr val="0B1F3A"/>
                          </a:solidFill>
                          <a:latin typeface="Calibri" pitchFamily="34" charset="0"/>
                          <a:ea typeface="Calibri" pitchFamily="34" charset="-122"/>
                          <a:cs typeface="Calibri" pitchFamily="34" charset="-120"/>
                        </a:rPr>
                        <a:t>EX-02</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Acct-B</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Electronics</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400" dirty="0">
                          <a:solidFill>
                            <a:srgbClr val="0B1F3A"/>
                          </a:solidFill>
                          <a:latin typeface="Calibri" pitchFamily="34" charset="0"/>
                          <a:ea typeface="Calibri" pitchFamily="34" charset="-122"/>
                          <a:cs typeface="Calibri" pitchFamily="34" charset="-120"/>
                        </a:rPr>
                        <a:t>29,000.00</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High transaction amount</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400" b="1" dirty="0">
                          <a:solidFill>
                            <a:srgbClr val="0B1F3A"/>
                          </a:solidFill>
                          <a:latin typeface="Calibri" pitchFamily="34" charset="0"/>
                          <a:ea typeface="Calibri" pitchFamily="34" charset="-122"/>
                          <a:cs typeface="Calibri" pitchFamily="34" charset="-120"/>
                        </a:rPr>
                        <a:t>40</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REVIEW</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D9701F"/>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rgbClr val="0B1F3A"/>
                          </a:solidFill>
                          <a:latin typeface="Calibri" pitchFamily="34" charset="0"/>
                          <a:ea typeface="Calibri" pitchFamily="34" charset="-122"/>
                          <a:cs typeface="Calibri" pitchFamily="34" charset="-120"/>
                        </a:rPr>
                        <a:t>EX-03</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Acct-C</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Streaming</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400" dirty="0">
                          <a:solidFill>
                            <a:srgbClr val="0B1F3A"/>
                          </a:solidFill>
                          <a:latin typeface="Calibri" pitchFamily="34" charset="0"/>
                          <a:ea typeface="Calibri" pitchFamily="34" charset="-122"/>
                          <a:cs typeface="Calibri" pitchFamily="34" charset="-120"/>
                        </a:rPr>
                        <a:t>180.00</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Possible duplicate transaction</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400" b="1" dirty="0">
                          <a:solidFill>
                            <a:srgbClr val="0B1F3A"/>
                          </a:solidFill>
                          <a:latin typeface="Calibri" pitchFamily="34" charset="0"/>
                          <a:ea typeface="Calibri" pitchFamily="34" charset="-122"/>
                          <a:cs typeface="Calibri" pitchFamily="34" charset="-120"/>
                        </a:rPr>
                        <a:t>35</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REVIEW</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D9701F"/>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rgbClr val="0B1F3A"/>
                          </a:solidFill>
                          <a:latin typeface="Calibri" pitchFamily="34" charset="0"/>
                          <a:ea typeface="Calibri" pitchFamily="34" charset="-122"/>
                          <a:cs typeface="Calibri" pitchFamily="34" charset="-120"/>
                        </a:rPr>
                        <a:t>EX-04</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Acct-C</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Streaming</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400" dirty="0">
                          <a:solidFill>
                            <a:srgbClr val="0B1F3A"/>
                          </a:solidFill>
                          <a:latin typeface="Calibri" pitchFamily="34" charset="0"/>
                          <a:ea typeface="Calibri" pitchFamily="34" charset="-122"/>
                          <a:cs typeface="Calibri" pitchFamily="34" charset="-120"/>
                        </a:rPr>
                        <a:t>180.00</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Possible duplicate transaction</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400" b="1" dirty="0">
                          <a:solidFill>
                            <a:srgbClr val="0B1F3A"/>
                          </a:solidFill>
                          <a:latin typeface="Calibri" pitchFamily="34" charset="0"/>
                          <a:ea typeface="Calibri" pitchFamily="34" charset="-122"/>
                          <a:cs typeface="Calibri" pitchFamily="34" charset="-120"/>
                        </a:rPr>
                        <a:t>35</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REVIEW</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D9701F"/>
                    </a:solidFill>
                  </a:tcPr>
                </a:tc>
                <a:extLst>
                  <a:ext uri="{0D108BD9-81ED-4DB2-BD59-A6C34878D82A}">
                    <a16:rowId xmlns:a16="http://schemas.microsoft.com/office/drawing/2014/main" val="10004"/>
                  </a:ext>
                </a:extLst>
              </a:tr>
              <a:tr h="457200">
                <a:tc>
                  <a:txBody>
                    <a:bodyPr/>
                    <a:lstStyle/>
                    <a:p>
                      <a:pPr marL="0" indent="0">
                        <a:buNone/>
                      </a:pPr>
                      <a:r>
                        <a:rPr lang="en-US" sz="1400" b="1" dirty="0">
                          <a:solidFill>
                            <a:srgbClr val="0B1F3A"/>
                          </a:solidFill>
                          <a:latin typeface="Calibri" pitchFamily="34" charset="0"/>
                          <a:ea typeface="Calibri" pitchFamily="34" charset="-122"/>
                          <a:cs typeface="Calibri" pitchFamily="34" charset="-120"/>
                        </a:rPr>
                        <a:t>EX-05</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Acct-D</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Jewelry</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400" dirty="0">
                          <a:solidFill>
                            <a:srgbClr val="0B1F3A"/>
                          </a:solidFill>
                          <a:latin typeface="Calibri" pitchFamily="34" charset="0"/>
                          <a:ea typeface="Calibri" pitchFamily="34" charset="-122"/>
                          <a:cs typeface="Calibri" pitchFamily="34" charset="-120"/>
                        </a:rPr>
                        <a:t>26,000.00</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Possible duplicate transaction; High transaction amount</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400" b="1" dirty="0">
                          <a:solidFill>
                            <a:srgbClr val="0B1F3A"/>
                          </a:solidFill>
                          <a:latin typeface="Calibri" pitchFamily="34" charset="0"/>
                          <a:ea typeface="Calibri" pitchFamily="34" charset="-122"/>
                          <a:cs typeface="Calibri" pitchFamily="34" charset="-120"/>
                        </a:rPr>
                        <a:t>75</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b="1" dirty="0">
                          <a:solidFill>
                            <a:srgbClr val="D9701F"/>
                          </a:solidFill>
                          <a:latin typeface="Calibri" pitchFamily="34" charset="0"/>
                          <a:ea typeface="Calibri" pitchFamily="34" charset="-122"/>
                          <a:cs typeface="Calibri" pitchFamily="34" charset="-120"/>
                        </a:rPr>
                        <a:t>CRITICAL</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REVIEW</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D9701F"/>
                    </a:solidFill>
                  </a:tcPr>
                </a:tc>
                <a:extLst>
                  <a:ext uri="{0D108BD9-81ED-4DB2-BD59-A6C34878D82A}">
                    <a16:rowId xmlns:a16="http://schemas.microsoft.com/office/drawing/2014/main" val="10005"/>
                  </a:ext>
                </a:extLst>
              </a:tr>
              <a:tr h="457200">
                <a:tc>
                  <a:txBody>
                    <a:bodyPr/>
                    <a:lstStyle/>
                    <a:p>
                      <a:pPr marL="0" indent="0">
                        <a:buNone/>
                      </a:pPr>
                      <a:r>
                        <a:rPr lang="en-US" sz="1400" b="1" dirty="0">
                          <a:solidFill>
                            <a:srgbClr val="0B1F3A"/>
                          </a:solidFill>
                          <a:latin typeface="Calibri" pitchFamily="34" charset="0"/>
                          <a:ea typeface="Calibri" pitchFamily="34" charset="-122"/>
                          <a:cs typeface="Calibri" pitchFamily="34" charset="-120"/>
                        </a:rPr>
                        <a:t>EX-06</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Acct-D</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Jewelry</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400" dirty="0">
                          <a:solidFill>
                            <a:srgbClr val="0B1F3A"/>
                          </a:solidFill>
                          <a:latin typeface="Calibri" pitchFamily="34" charset="0"/>
                          <a:ea typeface="Calibri" pitchFamily="34" charset="-122"/>
                          <a:cs typeface="Calibri" pitchFamily="34" charset="-120"/>
                        </a:rPr>
                        <a:t>26,000.00</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dirty="0">
                          <a:solidFill>
                            <a:srgbClr val="0B1F3A"/>
                          </a:solidFill>
                          <a:latin typeface="Calibri" pitchFamily="34" charset="0"/>
                          <a:ea typeface="Calibri" pitchFamily="34" charset="-122"/>
                          <a:cs typeface="Calibri" pitchFamily="34" charset="-120"/>
                        </a:rPr>
                        <a:t>Possible duplicate transaction; High transaction amount</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400" b="1" dirty="0">
                          <a:solidFill>
                            <a:srgbClr val="0B1F3A"/>
                          </a:solidFill>
                          <a:latin typeface="Calibri" pitchFamily="34" charset="0"/>
                          <a:ea typeface="Calibri" pitchFamily="34" charset="-122"/>
                          <a:cs typeface="Calibri" pitchFamily="34" charset="-120"/>
                        </a:rPr>
                        <a:t>75</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400" b="1" dirty="0">
                          <a:solidFill>
                            <a:srgbClr val="D9701F"/>
                          </a:solidFill>
                          <a:latin typeface="Calibri" pitchFamily="34" charset="0"/>
                          <a:ea typeface="Calibri" pitchFamily="34" charset="-122"/>
                          <a:cs typeface="Calibri" pitchFamily="34" charset="-120"/>
                        </a:rPr>
                        <a:t>CRITICAL</a:t>
                      </a:r>
                      <a:endParaRPr lang="en-US" sz="14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REVIEW</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D9701F"/>
                    </a:solidFill>
                  </a:tcPr>
                </a:tc>
                <a:extLst>
                  <a:ext uri="{0D108BD9-81ED-4DB2-BD59-A6C34878D82A}">
                    <a16:rowId xmlns:a16="http://schemas.microsoft.com/office/drawing/2014/main" val="10006"/>
                  </a:ext>
                </a:extLst>
              </a:tr>
            </a:tbl>
          </a:graphicData>
        </a:graphic>
      </p:graphicFrame>
      <p:sp>
        <p:nvSpPr>
          <p:cNvPr id="5" name="How to read"/>
          <p:cNvSpPr/>
          <p:nvPr/>
        </p:nvSpPr>
        <p:spPr>
          <a:xfrm>
            <a:off x="548640" y="4846320"/>
            <a:ext cx="5394960" cy="1280160"/>
          </a:xfrm>
          <a:prstGeom prst="roundRect">
            <a:avLst>
              <a:gd name="adj" fmla="val 7143"/>
            </a:avLst>
          </a:prstGeom>
          <a:solidFill>
            <a:schemeClr val="bg2"/>
          </a:solidFill>
          <a:ln/>
        </p:spPr>
      </p:sp>
      <p:sp>
        <p:nvSpPr>
          <p:cNvPr id="6" name="How to read text"/>
          <p:cNvSpPr txBox="1"/>
          <p:nvPr/>
        </p:nvSpPr>
        <p:spPr>
          <a:xfrm>
            <a:off x="777240" y="4846320"/>
            <a:ext cx="4937760" cy="1280160"/>
          </a:xfrm>
          <a:prstGeom prst="rect">
            <a:avLst/>
          </a:prstGeom>
          <a:noFill/>
          <a:ln/>
        </p:spPr>
        <p:txBody>
          <a:bodyPr wrap="square" lIns="0" tIns="0" rIns="0" bIns="0" rtlCol="0" anchor="ctr"/>
          <a:lstStyle/>
          <a:p>
            <a:pPr marL="0" indent="0">
              <a:buNone/>
            </a:pPr>
            <a:r>
              <a:rPr lang="en-US" sz="1500" b="1" dirty="0">
                <a:solidFill>
                  <a:schemeClr val="accent1"/>
                </a:solidFill>
              </a:rPr>
              <a:t>How to read it</a:t>
            </a:r>
            <a:endParaRPr lang="en-US" sz="1500" dirty="0"/>
          </a:p>
          <a:p>
            <a:pPr marL="0" indent="0">
              <a:buNone/>
            </a:pPr>
            <a:r>
              <a:rPr lang="en-US" sz="1500" dirty="0">
                <a:solidFill>
                  <a:schemeClr val="tx1"/>
                </a:solidFill>
              </a:rPr>
              <a:t>EX-05 and EX-06 trigger two rules: 35 + 40 = 75, which is CRITICAL. Both reasons are shown.</a:t>
            </a:r>
            <a:endParaRPr lang="en-US" sz="1500" dirty="0"/>
          </a:p>
        </p:txBody>
      </p:sp>
      <p:sp>
        <p:nvSpPr>
          <p:cNvPr id="7" name="Illustrative note"/>
          <p:cNvSpPr/>
          <p:nvPr/>
        </p:nvSpPr>
        <p:spPr>
          <a:xfrm>
            <a:off x="6245352" y="4846320"/>
            <a:ext cx="5394960" cy="1280160"/>
          </a:xfrm>
          <a:prstGeom prst="roundRect">
            <a:avLst>
              <a:gd name="adj" fmla="val 7143"/>
            </a:avLst>
          </a:prstGeom>
          <a:solidFill>
            <a:schemeClr val="accent2">
              <a:alpha val="12000"/>
            </a:schemeClr>
          </a:solidFill>
          <a:ln w="15875">
            <a:solidFill>
              <a:schemeClr val="accent2"/>
            </a:solidFill>
            <a:prstDash val="solid"/>
          </a:ln>
        </p:spPr>
      </p:sp>
      <p:sp>
        <p:nvSpPr>
          <p:cNvPr id="4" name="Illustrative note text"/>
          <p:cNvSpPr txBox="1"/>
          <p:nvPr/>
        </p:nvSpPr>
        <p:spPr>
          <a:xfrm>
            <a:off x="6473952" y="4846320"/>
            <a:ext cx="4937760" cy="1280160"/>
          </a:xfrm>
          <a:prstGeom prst="rect">
            <a:avLst/>
          </a:prstGeom>
          <a:noFill/>
          <a:ln/>
        </p:spPr>
        <p:txBody>
          <a:bodyPr wrap="square" lIns="0" tIns="0" rIns="0" bIns="0" rtlCol="0" anchor="ctr"/>
          <a:lstStyle/>
          <a:p>
            <a:pPr marL="0" indent="0">
              <a:buNone/>
            </a:pPr>
            <a:r>
              <a:rPr lang="en-US" sz="1500" b="1" dirty="0">
                <a:solidFill>
                  <a:schemeClr val="accent2"/>
                </a:solidFill>
              </a:rPr>
              <a:t>Illustrative only</a:t>
            </a:r>
            <a:endParaRPr lang="en-US" sz="1500" dirty="0"/>
          </a:p>
          <a:p>
            <a:pPr marL="0" indent="0">
              <a:buNone/>
            </a:pPr>
            <a:r>
              <a:rPr lang="en-US" sz="1500" dirty="0">
                <a:solidFill>
                  <a:schemeClr val="tx1"/>
                </a:solidFill>
              </a:rPr>
              <a:t>These rows are invented, not real banking data. REVIEW means flagged for a human, not proven fraud.</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Results and Evaluation</a:t>
            </a:r>
            <a:endParaRPr lang="en-US" sz="3600" dirty="0"/>
          </a:p>
        </p:txBody>
      </p:sp>
      <p:sp>
        <p:nvSpPr>
          <p:cNvPr id="3" name="Pill SAMPLE DATASET OUTPUT"/>
          <p:cNvSpPr/>
          <p:nvPr/>
        </p:nvSpPr>
        <p:spPr>
          <a:xfrm>
            <a:off x="8899855" y="566928"/>
            <a:ext cx="2743200" cy="384048"/>
          </a:xfrm>
          <a:prstGeom prst="roundRect">
            <a:avLst>
              <a:gd name="adj" fmla="val 50000"/>
            </a:avLst>
          </a:prstGeom>
          <a:solidFill>
            <a:schemeClr val="accent1"/>
          </a:solidFill>
          <a:ln/>
        </p:spPr>
        <p:txBody>
          <a:bodyPr wrap="square" lIns="0" tIns="0" rIns="0" bIns="0" rtlCol="0" anchor="ctr"/>
          <a:lstStyle/>
          <a:p>
            <a:pPr marL="0" indent="0" algn="ctr">
              <a:buNone/>
            </a:pPr>
            <a:r>
              <a:rPr lang="en-US" sz="1300" b="1" dirty="0">
                <a:solidFill>
                  <a:schemeClr val="bg1"/>
                </a:solidFill>
              </a:rPr>
              <a:t>SAMPLE DATASET OUTPUT</a:t>
            </a:r>
            <a:endParaRPr lang="en-US" sz="1300" dirty="0"/>
          </a:p>
        </p:txBody>
      </p:sp>
      <p:graphicFrame>
        <p:nvGraphicFramePr>
          <p:cNvPr id="9" name="Repository sample output"/>
          <p:cNvGraphicFramePr>
            <a:graphicFrameLocks noGrp="1"/>
          </p:cNvGraphicFramePr>
          <p:nvPr>
            <p:extLst>
              <p:ext uri="{D42A27DB-BD31-4B8C-83A1-F6EECF244321}">
                <p14:modId xmlns:p14="http://schemas.microsoft.com/office/powerpoint/2010/main" val="1579011935"/>
              </p:ext>
            </p:extLst>
          </p:nvPr>
        </p:nvGraphicFramePr>
        <p:xfrm>
          <a:off x="548640" y="1371600"/>
          <a:ext cx="7040880" cy="3657600"/>
        </p:xfrm>
        <a:graphic>
          <a:graphicData uri="http://schemas.openxmlformats.org/drawingml/2006/table">
            <a:tbl>
              <a:tblPr/>
              <a:tblGrid>
                <a:gridCol w="86868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gridCol w="960120">
                  <a:extLst>
                    <a:ext uri="{9D8B030D-6E8A-4147-A177-3AD203B41FA5}">
                      <a16:colId xmlns:a16="http://schemas.microsoft.com/office/drawing/2014/main" val="20006"/>
                    </a:ext>
                  </a:extLst>
                </a:gridCol>
              </a:tblGrid>
              <a:tr h="36576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Txn</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3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Account</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3A"/>
                    </a:solidFill>
                  </a:tcPr>
                </a:tc>
                <a:tc>
                  <a:txBody>
                    <a:bodyPr/>
                    <a:lstStyle/>
                    <a:p>
                      <a:pPr marL="0" indent="0" algn="r">
                        <a:buNone/>
                      </a:pPr>
                      <a:r>
                        <a:rPr lang="en-US" sz="1300" b="1" dirty="0">
                          <a:solidFill>
                            <a:srgbClr val="FFFFFF"/>
                          </a:solidFill>
                          <a:latin typeface="Calibri" pitchFamily="34" charset="0"/>
                          <a:ea typeface="Calibri" pitchFamily="34" charset="-122"/>
                          <a:cs typeface="Calibri" pitchFamily="34" charset="-120"/>
                        </a:rPr>
                        <a:t>Amount ($)</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3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Merchant</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3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Score</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3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Severity</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3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3A"/>
                    </a:solidFill>
                  </a:tcPr>
                </a:tc>
                <a:extLst>
                  <a:ext uri="{0D108BD9-81ED-4DB2-BD59-A6C34878D82A}">
                    <a16:rowId xmlns:a16="http://schemas.microsoft.com/office/drawing/2014/main" val="10000"/>
                  </a:ext>
                </a:extLst>
              </a:tr>
              <a:tr h="365760">
                <a:tc>
                  <a:txBody>
                    <a:bodyPr/>
                    <a:lstStyle/>
                    <a:p>
                      <a:pPr marL="0" indent="0">
                        <a:buNone/>
                      </a:pPr>
                      <a:r>
                        <a:rPr lang="en-US" sz="1300" b="1" dirty="0">
                          <a:solidFill>
                            <a:srgbClr val="0B1F3A"/>
                          </a:solidFill>
                          <a:latin typeface="Calibri" pitchFamily="34" charset="0"/>
                          <a:ea typeface="Calibri" pitchFamily="34" charset="-122"/>
                          <a:cs typeface="Calibri" pitchFamily="34" charset="-120"/>
                        </a:rPr>
                        <a:t>TXN002</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ACC102</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9525" cap="flat" cmpd="sng" algn="ctr">
                      <a:solidFill>
                        <a:srgbClr val="D5DEE8"/>
                      </a:solidFill>
                      <a:prstDash val="solid"/>
                      <a:round/>
                      <a:headEnd type="none" w="med" len="med"/>
                      <a:tailEnd type="none" w="med" len="med"/>
                    </a:lnB>
                  </a:tcPr>
                </a:tc>
                <a:tc>
                  <a:txBody>
                    <a:bodyPr/>
                    <a:lstStyle/>
                    <a:p>
                      <a:pPr marL="0" indent="0" algn="r">
                        <a:buNone/>
                      </a:pPr>
                      <a:r>
                        <a:rPr lang="en-US" sz="1300" dirty="0">
                          <a:solidFill>
                            <a:srgbClr val="0B1F3A"/>
                          </a:solidFill>
                          <a:latin typeface="Calibri" pitchFamily="34" charset="0"/>
                          <a:ea typeface="Calibri" pitchFamily="34" charset="-122"/>
                          <a:cs typeface="Calibri" pitchFamily="34" charset="-120"/>
                        </a:rPr>
                        <a:t>27,000.00</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Electronics</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9525" cap="flat" cmpd="sng" algn="ctr">
                      <a:solidFill>
                        <a:srgbClr val="D5DEE8"/>
                      </a:solidFill>
                      <a:prstDash val="solid"/>
                      <a:round/>
                      <a:headEnd type="none" w="med" len="med"/>
                      <a:tailEnd type="none" w="med" len="med"/>
                    </a:lnB>
                  </a:tcPr>
                </a:tc>
                <a:tc>
                  <a:txBody>
                    <a:bodyPr/>
                    <a:lstStyle/>
                    <a:p>
                      <a:pPr marL="0" indent="0" algn="ctr">
                        <a:buNone/>
                      </a:pPr>
                      <a:r>
                        <a:rPr lang="en-US" sz="1300" b="1" dirty="0">
                          <a:solidFill>
                            <a:srgbClr val="0B1F3A"/>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9525" cap="flat" cmpd="sng" algn="ctr">
                      <a:solidFill>
                        <a:srgbClr val="D5DEE8"/>
                      </a:solidFill>
                      <a:prstDash val="solid"/>
                      <a:round/>
                      <a:headEnd type="none" w="med" len="med"/>
                      <a:tailEnd type="none" w="med" len="med"/>
                    </a:lnB>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REVIEW</a:t>
                      </a:r>
                      <a:endParaRPr lang="en-US" sz="12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9525" cap="flat" cmpd="sng" algn="ctr">
                      <a:solidFill>
                        <a:srgbClr val="D5DEE8"/>
                      </a:solidFill>
                      <a:prstDash val="solid"/>
                      <a:round/>
                      <a:headEnd type="none" w="med" len="med"/>
                      <a:tailEnd type="none" w="med" len="med"/>
                    </a:lnB>
                    <a:solidFill>
                      <a:srgbClr val="D9701F"/>
                    </a:solidFill>
                  </a:tcPr>
                </a:tc>
                <a:extLst>
                  <a:ext uri="{0D108BD9-81ED-4DB2-BD59-A6C34878D82A}">
                    <a16:rowId xmlns:a16="http://schemas.microsoft.com/office/drawing/2014/main" val="10001"/>
                  </a:ext>
                </a:extLst>
              </a:tr>
              <a:tr h="365760">
                <a:tc>
                  <a:txBody>
                    <a:bodyPr/>
                    <a:lstStyle/>
                    <a:p>
                      <a:pPr marL="0" indent="0">
                        <a:buNone/>
                      </a:pPr>
                      <a:r>
                        <a:rPr lang="en-US" sz="1300" b="1" dirty="0">
                          <a:solidFill>
                            <a:srgbClr val="0B1F3A"/>
                          </a:solidFill>
                          <a:latin typeface="Calibri" pitchFamily="34" charset="0"/>
                          <a:ea typeface="Calibri" pitchFamily="34" charset="-122"/>
                          <a:cs typeface="Calibri" pitchFamily="34" charset="-120"/>
                        </a:rPr>
                        <a:t>TXN003</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ACC103</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300" dirty="0">
                          <a:solidFill>
                            <a:srgbClr val="0B1F3A"/>
                          </a:solidFill>
                          <a:latin typeface="Calibri" pitchFamily="34" charset="0"/>
                          <a:ea typeface="Calibri" pitchFamily="34" charset="-122"/>
                          <a:cs typeface="Calibri" pitchFamily="34" charset="-120"/>
                        </a:rPr>
                        <a:t>450.00</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Cafe</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300" b="1" dirty="0">
                          <a:solidFill>
                            <a:srgbClr val="0B1F3A"/>
                          </a:solidFill>
                          <a:latin typeface="Calibri" pitchFamily="34" charset="0"/>
                          <a:ea typeface="Calibri" pitchFamily="34" charset="-122"/>
                          <a:cs typeface="Calibri" pitchFamily="34" charset="-120"/>
                        </a:rPr>
                        <a:t>35</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REVIEW</a:t>
                      </a:r>
                      <a:endParaRPr lang="en-US" sz="12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D9701F"/>
                    </a:solidFill>
                  </a:tcPr>
                </a:tc>
                <a:extLst>
                  <a:ext uri="{0D108BD9-81ED-4DB2-BD59-A6C34878D82A}">
                    <a16:rowId xmlns:a16="http://schemas.microsoft.com/office/drawing/2014/main" val="10002"/>
                  </a:ext>
                </a:extLst>
              </a:tr>
              <a:tr h="365760">
                <a:tc>
                  <a:txBody>
                    <a:bodyPr/>
                    <a:lstStyle/>
                    <a:p>
                      <a:pPr marL="0" indent="0">
                        <a:buNone/>
                      </a:pPr>
                      <a:r>
                        <a:rPr lang="en-US" sz="1300" b="1" dirty="0">
                          <a:solidFill>
                            <a:srgbClr val="0B1F3A"/>
                          </a:solidFill>
                          <a:latin typeface="Calibri" pitchFamily="34" charset="0"/>
                          <a:ea typeface="Calibri" pitchFamily="34" charset="-122"/>
                          <a:cs typeface="Calibri" pitchFamily="34" charset="-120"/>
                        </a:rPr>
                        <a:t>TXN004</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ACC103</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300" dirty="0">
                          <a:solidFill>
                            <a:srgbClr val="0B1F3A"/>
                          </a:solidFill>
                          <a:latin typeface="Calibri" pitchFamily="34" charset="0"/>
                          <a:ea typeface="Calibri" pitchFamily="34" charset="-122"/>
                          <a:cs typeface="Calibri" pitchFamily="34" charset="-120"/>
                        </a:rPr>
                        <a:t>450.00</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Cafe</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300" b="1" dirty="0">
                          <a:solidFill>
                            <a:srgbClr val="0B1F3A"/>
                          </a:solidFill>
                          <a:latin typeface="Calibri" pitchFamily="34" charset="0"/>
                          <a:ea typeface="Calibri" pitchFamily="34" charset="-122"/>
                          <a:cs typeface="Calibri" pitchFamily="34" charset="-120"/>
                        </a:rPr>
                        <a:t>35</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REVIEW</a:t>
                      </a:r>
                      <a:endParaRPr lang="en-US" sz="12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D9701F"/>
                    </a:solidFill>
                  </a:tcPr>
                </a:tc>
                <a:extLst>
                  <a:ext uri="{0D108BD9-81ED-4DB2-BD59-A6C34878D82A}">
                    <a16:rowId xmlns:a16="http://schemas.microsoft.com/office/drawing/2014/main" val="10003"/>
                  </a:ext>
                </a:extLst>
              </a:tr>
              <a:tr h="365760">
                <a:tc>
                  <a:txBody>
                    <a:bodyPr/>
                    <a:lstStyle/>
                    <a:p>
                      <a:pPr marL="0" indent="0">
                        <a:buNone/>
                      </a:pPr>
                      <a:r>
                        <a:rPr lang="en-US" sz="1300" b="1" dirty="0">
                          <a:solidFill>
                            <a:srgbClr val="0B1F3A"/>
                          </a:solidFill>
                          <a:latin typeface="Calibri" pitchFamily="34" charset="0"/>
                          <a:ea typeface="Calibri" pitchFamily="34" charset="-122"/>
                          <a:cs typeface="Calibri" pitchFamily="34" charset="-120"/>
                        </a:rPr>
                        <a:t>TXN005</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ACC104</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300" dirty="0">
                          <a:solidFill>
                            <a:srgbClr val="0B1F3A"/>
                          </a:solidFill>
                          <a:latin typeface="Calibri" pitchFamily="34" charset="0"/>
                          <a:ea typeface="Calibri" pitchFamily="34" charset="-122"/>
                          <a:cs typeface="Calibri" pitchFamily="34" charset="-120"/>
                        </a:rPr>
                        <a:t>900.00</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Pharmacy</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300" b="1" dirty="0">
                          <a:solidFill>
                            <a:srgbClr val="0B1F3A"/>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REVIEW</a:t>
                      </a:r>
                      <a:endParaRPr lang="en-US" sz="12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D9701F"/>
                    </a:solidFill>
                  </a:tcPr>
                </a:tc>
                <a:extLst>
                  <a:ext uri="{0D108BD9-81ED-4DB2-BD59-A6C34878D82A}">
                    <a16:rowId xmlns:a16="http://schemas.microsoft.com/office/drawing/2014/main" val="10004"/>
                  </a:ext>
                </a:extLst>
              </a:tr>
              <a:tr h="365760">
                <a:tc>
                  <a:txBody>
                    <a:bodyPr/>
                    <a:lstStyle/>
                    <a:p>
                      <a:pPr marL="0" indent="0">
                        <a:buNone/>
                      </a:pPr>
                      <a:r>
                        <a:rPr lang="en-US" sz="1300" b="1" dirty="0">
                          <a:solidFill>
                            <a:srgbClr val="0B1F3A"/>
                          </a:solidFill>
                          <a:latin typeface="Calibri" pitchFamily="34" charset="0"/>
                          <a:ea typeface="Calibri" pitchFamily="34" charset="-122"/>
                          <a:cs typeface="Calibri" pitchFamily="34" charset="-120"/>
                        </a:rPr>
                        <a:t>TXN008</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ACC104</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300" dirty="0">
                          <a:solidFill>
                            <a:srgbClr val="0B1F3A"/>
                          </a:solidFill>
                          <a:latin typeface="Calibri" pitchFamily="34" charset="0"/>
                          <a:ea typeface="Calibri" pitchFamily="34" charset="-122"/>
                          <a:cs typeface="Calibri" pitchFamily="34" charset="-120"/>
                        </a:rPr>
                        <a:t>800.00</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OnlineShop</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300" b="1" dirty="0">
                          <a:solidFill>
                            <a:srgbClr val="0B1F3A"/>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REVIEW</a:t>
                      </a:r>
                      <a:endParaRPr lang="en-US" sz="12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D9701F"/>
                    </a:solidFill>
                  </a:tcPr>
                </a:tc>
                <a:extLst>
                  <a:ext uri="{0D108BD9-81ED-4DB2-BD59-A6C34878D82A}">
                    <a16:rowId xmlns:a16="http://schemas.microsoft.com/office/drawing/2014/main" val="10005"/>
                  </a:ext>
                </a:extLst>
              </a:tr>
              <a:tr h="365760">
                <a:tc>
                  <a:txBody>
                    <a:bodyPr/>
                    <a:lstStyle/>
                    <a:p>
                      <a:pPr marL="0" indent="0">
                        <a:buNone/>
                      </a:pPr>
                      <a:r>
                        <a:rPr lang="en-US" sz="1300" b="1" dirty="0">
                          <a:solidFill>
                            <a:srgbClr val="0B1F3A"/>
                          </a:solidFill>
                          <a:latin typeface="Calibri" pitchFamily="34" charset="0"/>
                          <a:ea typeface="Calibri" pitchFamily="34" charset="-122"/>
                          <a:cs typeface="Calibri" pitchFamily="34" charset="-120"/>
                        </a:rPr>
                        <a:t>TXN006</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ACC104</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300" dirty="0">
                          <a:solidFill>
                            <a:srgbClr val="0B1F3A"/>
                          </a:solidFill>
                          <a:latin typeface="Calibri" pitchFamily="34" charset="0"/>
                          <a:ea typeface="Calibri" pitchFamily="34" charset="-122"/>
                          <a:cs typeface="Calibri" pitchFamily="34" charset="-120"/>
                        </a:rPr>
                        <a:t>700.00</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Grocery</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300" b="1" dirty="0">
                          <a:solidFill>
                            <a:srgbClr val="0B1F3A"/>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REVIEW</a:t>
                      </a:r>
                      <a:endParaRPr lang="en-US" sz="12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D9701F"/>
                    </a:solidFill>
                  </a:tcPr>
                </a:tc>
                <a:extLst>
                  <a:ext uri="{0D108BD9-81ED-4DB2-BD59-A6C34878D82A}">
                    <a16:rowId xmlns:a16="http://schemas.microsoft.com/office/drawing/2014/main" val="10006"/>
                  </a:ext>
                </a:extLst>
              </a:tr>
              <a:tr h="365760">
                <a:tc>
                  <a:txBody>
                    <a:bodyPr/>
                    <a:lstStyle/>
                    <a:p>
                      <a:pPr marL="0" indent="0">
                        <a:buNone/>
                      </a:pPr>
                      <a:r>
                        <a:rPr lang="en-US" sz="1300" b="1" dirty="0">
                          <a:solidFill>
                            <a:srgbClr val="0B1F3A"/>
                          </a:solidFill>
                          <a:latin typeface="Calibri" pitchFamily="34" charset="0"/>
                          <a:ea typeface="Calibri" pitchFamily="34" charset="-122"/>
                          <a:cs typeface="Calibri" pitchFamily="34" charset="-120"/>
                        </a:rPr>
                        <a:t>TXN007</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ACC104</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300" dirty="0">
                          <a:solidFill>
                            <a:srgbClr val="0B1F3A"/>
                          </a:solidFill>
                          <a:latin typeface="Calibri" pitchFamily="34" charset="0"/>
                          <a:ea typeface="Calibri" pitchFamily="34" charset="-122"/>
                          <a:cs typeface="Calibri" pitchFamily="34" charset="-120"/>
                        </a:rPr>
                        <a:t>650.00</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Fuel</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300" b="1" dirty="0">
                          <a:solidFill>
                            <a:srgbClr val="0B1F3A"/>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REVIEW</a:t>
                      </a:r>
                      <a:endParaRPr lang="en-US" sz="12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D9701F"/>
                    </a:solidFill>
                  </a:tcPr>
                </a:tc>
                <a:extLst>
                  <a:ext uri="{0D108BD9-81ED-4DB2-BD59-A6C34878D82A}">
                    <a16:rowId xmlns:a16="http://schemas.microsoft.com/office/drawing/2014/main" val="10007"/>
                  </a:ext>
                </a:extLst>
              </a:tr>
              <a:tr h="365760">
                <a:tc>
                  <a:txBody>
                    <a:bodyPr/>
                    <a:lstStyle/>
                    <a:p>
                      <a:pPr marL="0" indent="0">
                        <a:buNone/>
                      </a:pPr>
                      <a:r>
                        <a:rPr lang="en-US" sz="1300" b="1" dirty="0">
                          <a:solidFill>
                            <a:srgbClr val="0B1F3A"/>
                          </a:solidFill>
                          <a:latin typeface="Calibri" pitchFamily="34" charset="0"/>
                          <a:ea typeface="Calibri" pitchFamily="34" charset="-122"/>
                          <a:cs typeface="Calibri" pitchFamily="34" charset="-120"/>
                        </a:rPr>
                        <a:t>TXN009</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ACC105</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300" dirty="0">
                          <a:solidFill>
                            <a:srgbClr val="0B1F3A"/>
                          </a:solidFill>
                          <a:latin typeface="Calibri" pitchFamily="34" charset="0"/>
                          <a:ea typeface="Calibri" pitchFamily="34" charset="-122"/>
                          <a:cs typeface="Calibri" pitchFamily="34" charset="-120"/>
                        </a:rPr>
                        <a:t>1,500.00</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Clothing</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300" b="1" dirty="0">
                          <a:solidFill>
                            <a:srgbClr val="0B1F3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NORMAL</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NORMAL</a:t>
                      </a:r>
                      <a:endParaRPr lang="en-US" sz="12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B8480"/>
                    </a:solidFill>
                  </a:tcPr>
                </a:tc>
                <a:extLst>
                  <a:ext uri="{0D108BD9-81ED-4DB2-BD59-A6C34878D82A}">
                    <a16:rowId xmlns:a16="http://schemas.microsoft.com/office/drawing/2014/main" val="10008"/>
                  </a:ext>
                </a:extLst>
              </a:tr>
              <a:tr h="365760">
                <a:tc>
                  <a:txBody>
                    <a:bodyPr/>
                    <a:lstStyle/>
                    <a:p>
                      <a:pPr marL="0" indent="0">
                        <a:buNone/>
                      </a:pPr>
                      <a:r>
                        <a:rPr lang="en-US" sz="1300" b="1" dirty="0">
                          <a:solidFill>
                            <a:srgbClr val="0B1F3A"/>
                          </a:solidFill>
                          <a:latin typeface="Calibri" pitchFamily="34" charset="0"/>
                          <a:ea typeface="Calibri" pitchFamily="34" charset="-122"/>
                          <a:cs typeface="Calibri" pitchFamily="34" charset="-120"/>
                        </a:rPr>
                        <a:t>TXN001</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ACC101</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r">
                        <a:buNone/>
                      </a:pPr>
                      <a:r>
                        <a:rPr lang="en-US" sz="1300" dirty="0">
                          <a:solidFill>
                            <a:srgbClr val="0B1F3A"/>
                          </a:solidFill>
                          <a:latin typeface="Calibri" pitchFamily="34" charset="0"/>
                          <a:ea typeface="Calibri" pitchFamily="34" charset="-122"/>
                          <a:cs typeface="Calibri" pitchFamily="34" charset="-120"/>
                        </a:rPr>
                        <a:t>1,200.00</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BookStore</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300" b="1" dirty="0">
                          <a:solidFill>
                            <a:srgbClr val="0B1F3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buNone/>
                      </a:pPr>
                      <a:r>
                        <a:rPr lang="en-US" sz="1300" dirty="0">
                          <a:solidFill>
                            <a:srgbClr val="0B1F3A"/>
                          </a:solidFill>
                          <a:latin typeface="Calibri" pitchFamily="34" charset="0"/>
                          <a:ea typeface="Calibri" pitchFamily="34" charset="-122"/>
                          <a:cs typeface="Calibri" pitchFamily="34" charset="-120"/>
                        </a:rPr>
                        <a:t>NORMAL</a:t>
                      </a:r>
                      <a:endParaRPr lang="en-US" sz="13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NORMAL</a:t>
                      </a:r>
                      <a:endParaRPr lang="en-US" sz="1200" dirty="0">
                        <a:latin typeface="Calibri" charset="0"/>
                        <a:ea typeface="Calibri" charset="0"/>
                        <a:cs typeface="Calibri" charset="0"/>
                      </a:endParaRPr>
                    </a:p>
                  </a:txBody>
                  <a:tcPr anchor="ctr">
                    <a:lnL w="0" cap="flat" cmpd="sng" algn="ctr">
                      <a:noFill/>
                    </a:lnL>
                    <a:lnR w="0" cap="flat" cmpd="sng" algn="ctr">
                      <a:noFill/>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B8480"/>
                    </a:solidFill>
                  </a:tcPr>
                </a:tc>
                <a:extLst>
                  <a:ext uri="{0D108BD9-81ED-4DB2-BD59-A6C34878D82A}">
                    <a16:rowId xmlns:a16="http://schemas.microsoft.com/office/drawing/2014/main" val="10009"/>
                  </a:ext>
                </a:extLst>
              </a:tr>
            </a:tbl>
          </a:graphicData>
        </a:graphic>
      </p:graphicFrame>
      <p:sp>
        <p:nvSpPr>
          <p:cNvPr id="5" name="Results caption"/>
          <p:cNvSpPr txBox="1"/>
          <p:nvPr/>
        </p:nvSpPr>
        <p:spPr>
          <a:xfrm>
            <a:off x="548640" y="5212080"/>
            <a:ext cx="7040880" cy="868680"/>
          </a:xfrm>
          <a:prstGeom prst="rect">
            <a:avLst/>
          </a:prstGeom>
          <a:noFill/>
          <a:ln/>
        </p:spPr>
        <p:txBody>
          <a:bodyPr wrap="square" lIns="0" tIns="0" rIns="0" bIns="0" rtlCol="0" anchor="t"/>
          <a:lstStyle/>
          <a:p>
            <a:pPr marL="0" indent="0">
              <a:buNone/>
            </a:pPr>
            <a:r>
              <a:rPr lang="en-US" sz="1200" dirty="0">
                <a:solidFill>
                  <a:schemeClr val="accent6"/>
                </a:solidFill>
              </a:rPr>
              <a:t>Output of the 9-row seed dataset, as documented in the repository README (Python CLI demo) and cross-checked against the SQL rules. A 9-row functional demonstration only: no accuracy, detection-rate or performance claims.</a:t>
            </a:r>
            <a:endParaRPr lang="en-US" sz="1200" dirty="0"/>
          </a:p>
        </p:txBody>
      </p:sp>
      <p:sp>
        <p:nvSpPr>
          <p:cNvPr id="6" name="Stat flagged"/>
          <p:cNvSpPr/>
          <p:nvPr/>
        </p:nvSpPr>
        <p:spPr>
          <a:xfrm>
            <a:off x="7909560" y="1371600"/>
            <a:ext cx="3733495" cy="1097280"/>
          </a:xfrm>
          <a:prstGeom prst="roundRect">
            <a:avLst>
              <a:gd name="adj" fmla="val 8333"/>
            </a:avLst>
          </a:prstGeom>
          <a:solidFill>
            <a:schemeClr val="bg2"/>
          </a:solidFill>
          <a:ln/>
          <a:effectLst>
            <a:outerShdw blurRad="101600" dist="25400" dir="5400000" algn="bl" rotWithShape="0">
              <a:srgbClr val="0B1F3A">
                <a:alpha val="12000"/>
              </a:srgbClr>
            </a:outerShdw>
          </a:effectLst>
        </p:spPr>
      </p:sp>
      <p:sp>
        <p:nvSpPr>
          <p:cNvPr id="7" name="Stat flagged value"/>
          <p:cNvSpPr txBox="1"/>
          <p:nvPr/>
        </p:nvSpPr>
        <p:spPr>
          <a:xfrm>
            <a:off x="8138160" y="1444752"/>
            <a:ext cx="3276295" cy="548640"/>
          </a:xfrm>
          <a:prstGeom prst="rect">
            <a:avLst/>
          </a:prstGeom>
          <a:noFill/>
          <a:ln/>
        </p:spPr>
        <p:txBody>
          <a:bodyPr wrap="square" lIns="0" tIns="0" rIns="0" bIns="0" rtlCol="0" anchor="t"/>
          <a:lstStyle/>
          <a:p>
            <a:pPr marL="0" indent="0">
              <a:buNone/>
            </a:pPr>
            <a:r>
              <a:rPr lang="en-US" sz="3200" b="1" dirty="0">
                <a:solidFill>
                  <a:schemeClr val="accent2"/>
                </a:solidFill>
              </a:rPr>
              <a:t>7 of 9</a:t>
            </a:r>
            <a:endParaRPr lang="en-US" sz="3200" dirty="0"/>
          </a:p>
        </p:txBody>
      </p:sp>
      <p:sp>
        <p:nvSpPr>
          <p:cNvPr id="8" name="Stat flagged label"/>
          <p:cNvSpPr txBox="1"/>
          <p:nvPr/>
        </p:nvSpPr>
        <p:spPr>
          <a:xfrm>
            <a:off x="8138160" y="2011680"/>
            <a:ext cx="3276295" cy="365760"/>
          </a:xfrm>
          <a:prstGeom prst="rect">
            <a:avLst/>
          </a:prstGeom>
          <a:noFill/>
          <a:ln/>
        </p:spPr>
        <p:txBody>
          <a:bodyPr wrap="square" lIns="0" tIns="0" rIns="0" bIns="0" rtlCol="0" anchor="t"/>
          <a:lstStyle/>
          <a:p>
            <a:pPr marL="0" indent="0">
              <a:buNone/>
            </a:pPr>
            <a:r>
              <a:rPr lang="en-US" sz="1300" dirty="0">
                <a:solidFill>
                  <a:schemeClr val="tx1"/>
                </a:solidFill>
              </a:rPr>
              <a:t>sample transactions flagged REVIEW (77.8%)</a:t>
            </a:r>
            <a:endParaRPr lang="en-US" sz="1300" dirty="0"/>
          </a:p>
        </p:txBody>
      </p:sp>
      <p:sp>
        <p:nvSpPr>
          <p:cNvPr id="4" name="Stat volume"/>
          <p:cNvSpPr/>
          <p:nvPr/>
        </p:nvSpPr>
        <p:spPr>
          <a:xfrm>
            <a:off x="7909560" y="2651760"/>
            <a:ext cx="3733495" cy="1097280"/>
          </a:xfrm>
          <a:prstGeom prst="roundRect">
            <a:avLst>
              <a:gd name="adj" fmla="val 8333"/>
            </a:avLst>
          </a:prstGeom>
          <a:solidFill>
            <a:schemeClr val="bg2"/>
          </a:solidFill>
          <a:ln/>
          <a:effectLst>
            <a:outerShdw blurRad="101600" dist="25400" dir="5400000" algn="bl" rotWithShape="0">
              <a:srgbClr val="0B1F3A">
                <a:alpha val="12000"/>
              </a:srgbClr>
            </a:outerShdw>
          </a:effectLst>
        </p:spPr>
      </p:sp>
      <p:sp>
        <p:nvSpPr>
          <p:cNvPr id="10" name="Stat volume value"/>
          <p:cNvSpPr txBox="1"/>
          <p:nvPr/>
        </p:nvSpPr>
        <p:spPr>
          <a:xfrm>
            <a:off x="8138160" y="2724912"/>
            <a:ext cx="3276295" cy="548640"/>
          </a:xfrm>
          <a:prstGeom prst="rect">
            <a:avLst/>
          </a:prstGeom>
          <a:noFill/>
          <a:ln/>
        </p:spPr>
        <p:txBody>
          <a:bodyPr wrap="square" lIns="0" tIns="0" rIns="0" bIns="0" rtlCol="0" anchor="t"/>
          <a:lstStyle/>
          <a:p>
            <a:pPr marL="0" indent="0">
              <a:buNone/>
            </a:pPr>
            <a:r>
              <a:rPr lang="en-US" sz="3200" b="1" dirty="0">
                <a:solidFill>
                  <a:schemeClr val="accent1"/>
                </a:solidFill>
              </a:rPr>
              <a:t>$30,950</a:t>
            </a:r>
            <a:endParaRPr lang="en-US" sz="3200" dirty="0"/>
          </a:p>
        </p:txBody>
      </p:sp>
      <p:sp>
        <p:nvSpPr>
          <p:cNvPr id="11" name="Stat volume label"/>
          <p:cNvSpPr txBox="1"/>
          <p:nvPr/>
        </p:nvSpPr>
        <p:spPr>
          <a:xfrm>
            <a:off x="8138160" y="3291840"/>
            <a:ext cx="3276295" cy="365760"/>
          </a:xfrm>
          <a:prstGeom prst="rect">
            <a:avLst/>
          </a:prstGeom>
          <a:noFill/>
          <a:ln/>
        </p:spPr>
        <p:txBody>
          <a:bodyPr wrap="square" lIns="0" tIns="0" rIns="0" bIns="0" rtlCol="0" anchor="t"/>
          <a:lstStyle/>
          <a:p>
            <a:pPr marL="0" indent="0">
              <a:buNone/>
            </a:pPr>
            <a:r>
              <a:rPr lang="en-US" sz="1300" dirty="0">
                <a:solidFill>
                  <a:schemeClr val="tx1"/>
                </a:solidFill>
              </a:rPr>
              <a:t>of $33,650 sample volume under review (92.0%)</a:t>
            </a:r>
            <a:endParaRPr lang="en-US" sz="1300" dirty="0"/>
          </a:p>
        </p:txBody>
      </p:sp>
      <p:sp>
        <p:nvSpPr>
          <p:cNvPr id="12" name="Screenshot placeholder"/>
          <p:cNvSpPr/>
          <p:nvPr/>
        </p:nvSpPr>
        <p:spPr>
          <a:xfrm>
            <a:off x="7909560" y="3931920"/>
            <a:ext cx="3733495" cy="2148840"/>
          </a:xfrm>
          <a:prstGeom prst="roundRect">
            <a:avLst>
              <a:gd name="adj" fmla="val 4255"/>
            </a:avLst>
          </a:prstGeom>
          <a:solidFill>
            <a:schemeClr val="bg1"/>
          </a:solidFill>
          <a:ln w="19050">
            <a:solidFill>
              <a:schemeClr val="accent6"/>
            </a:solidFill>
            <a:prstDash val="dash"/>
          </a:ln>
        </p:spPr>
      </p:sp>
      <p:sp>
        <p:nvSpPr>
          <p:cNvPr id="13" name="Screenshot placeholder text"/>
          <p:cNvSpPr txBox="1"/>
          <p:nvPr/>
        </p:nvSpPr>
        <p:spPr>
          <a:xfrm>
            <a:off x="8092440" y="4023360"/>
            <a:ext cx="3367735" cy="1965960"/>
          </a:xfrm>
          <a:prstGeom prst="rect">
            <a:avLst/>
          </a:prstGeom>
          <a:noFill/>
          <a:ln/>
        </p:spPr>
        <p:txBody>
          <a:bodyPr wrap="square" lIns="0" tIns="0" rIns="0" bIns="0" rtlCol="0" anchor="ctr"/>
          <a:lstStyle/>
          <a:p>
            <a:pPr marL="0" indent="0">
              <a:buNone/>
            </a:pPr>
            <a:r>
              <a:rPr lang="en-US" sz="1200" b="1" dirty="0">
                <a:solidFill>
                  <a:schemeClr val="accent2"/>
                </a:solidFill>
              </a:rPr>
              <a:t>PLACEHOLDER</a:t>
            </a:r>
            <a:endParaRPr lang="en-US" sz="1200" dirty="0"/>
          </a:p>
          <a:p>
            <a:pPr marL="0" indent="0">
              <a:buNone/>
            </a:pPr>
            <a:r>
              <a:rPr lang="en-US" sz="1400" b="1" dirty="0">
                <a:solidFill>
                  <a:schemeClr val="tx1"/>
                </a:solidFill>
              </a:rPr>
              <a:t>Add Exasol query-result screenshot</a:t>
            </a:r>
            <a:endParaRPr lang="en-US" sz="1200" dirty="0"/>
          </a:p>
          <a:p>
            <a:pPr marL="0" indent="0">
              <a:buNone/>
            </a:pPr>
            <a:r>
              <a:rPr lang="en-US" sz="1200" dirty="0">
                <a:solidFill>
                  <a:schemeClr val="accent6"/>
                </a:solidFill>
              </a:rPr>
              <a:t>Run transaction_guard_exasol.sql in Exasol Personal; capture the review queue and summary query results.</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3600" b="1" dirty="0">
                <a:solidFill>
                  <a:schemeClr val="tx1"/>
                </a:solidFill>
              </a:rPr>
              <a:t>Limitations and Future Scope</a:t>
            </a:r>
            <a:endParaRPr lang="en-US" sz="3600" dirty="0"/>
          </a:p>
        </p:txBody>
      </p:sp>
      <p:sp>
        <p:nvSpPr>
          <p:cNvPr id="3" name="Limitations panel"/>
          <p:cNvSpPr/>
          <p:nvPr/>
        </p:nvSpPr>
        <p:spPr>
          <a:xfrm>
            <a:off x="548640" y="1371600"/>
            <a:ext cx="5394960" cy="4754880"/>
          </a:xfrm>
          <a:prstGeom prst="roundRect">
            <a:avLst>
              <a:gd name="adj" fmla="val 1923"/>
            </a:avLst>
          </a:prstGeom>
          <a:solidFill>
            <a:schemeClr val="bg2"/>
          </a:solidFill>
          <a:ln/>
        </p:spPr>
      </p:sp>
      <p:sp>
        <p:nvSpPr>
          <p:cNvPr id="4" name="Limitations badge"/>
          <p:cNvSpPr/>
          <p:nvPr/>
        </p:nvSpPr>
        <p:spPr>
          <a:xfrm>
            <a:off x="822960" y="1572768"/>
            <a:ext cx="548640" cy="548640"/>
          </a:xfrm>
          <a:prstGeom prst="ellipse">
            <a:avLst/>
          </a:prstGeom>
          <a:solidFill>
            <a:schemeClr val="accent2"/>
          </a:solidFill>
          <a:ln/>
        </p:spPr>
      </p:sp>
      <p:pic>
        <p:nvPicPr>
          <p:cNvPr id="5" name="Limitations icon" descr="Limitations icon"/>
          <p:cNvPicPr>
            <a:picLocks noChangeAspect="1"/>
          </p:cNvPicPr>
          <p:nvPr/>
        </p:nvPicPr>
        <p:blipFill>
          <a:blip r:embed="rId3"/>
          <a:stretch>
            <a:fillRect/>
          </a:stretch>
        </p:blipFill>
        <p:spPr>
          <a:xfrm>
            <a:off x="965606" y="1715414"/>
            <a:ext cx="263347" cy="263347"/>
          </a:xfrm>
          <a:prstGeom prst="rect">
            <a:avLst/>
          </a:prstGeom>
        </p:spPr>
      </p:pic>
      <p:sp>
        <p:nvSpPr>
          <p:cNvPr id="6" name="Limitations header"/>
          <p:cNvSpPr txBox="1"/>
          <p:nvPr/>
        </p:nvSpPr>
        <p:spPr>
          <a:xfrm>
            <a:off x="1554480" y="1572768"/>
            <a:ext cx="4114800" cy="548640"/>
          </a:xfrm>
          <a:prstGeom prst="rect">
            <a:avLst/>
          </a:prstGeom>
          <a:noFill/>
          <a:ln/>
        </p:spPr>
        <p:txBody>
          <a:bodyPr wrap="square" lIns="0" tIns="0" rIns="0" bIns="0" rtlCol="0" anchor="ctr"/>
          <a:lstStyle/>
          <a:p>
            <a:pPr marL="0" indent="0">
              <a:buNone/>
            </a:pPr>
            <a:r>
              <a:rPr lang="en-US" sz="2200" b="1" dirty="0">
                <a:solidFill>
                  <a:schemeClr val="tx1"/>
                </a:solidFill>
              </a:rPr>
              <a:t>Current limitations</a:t>
            </a:r>
            <a:endParaRPr lang="en-US" sz="2200" dirty="0"/>
          </a:p>
        </p:txBody>
      </p:sp>
      <p:sp>
        <p:nvSpPr>
          <p:cNvPr id="7" name="Limitations list"/>
          <p:cNvSpPr txBox="1"/>
          <p:nvPr/>
        </p:nvSpPr>
        <p:spPr>
          <a:xfrm>
            <a:off x="868680" y="2377440"/>
            <a:ext cx="4754880" cy="356616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chemeClr val="tx1"/>
                </a:solidFill>
              </a:rPr>
              <a:t>Rule-based detection cannot identify every type of fraud.</a:t>
            </a:r>
            <a:endParaRPr lang="en-US" sz="1800" dirty="0"/>
          </a:p>
          <a:p>
            <a:pPr marL="342900" indent="-342900">
              <a:spcAft>
                <a:spcPts val="1600"/>
              </a:spcAft>
              <a:buSzPct val="100000"/>
              <a:buChar char="•"/>
            </a:pPr>
            <a:r>
              <a:rPr lang="en-US" sz="1800" dirty="0">
                <a:solidFill>
                  <a:schemeClr val="tx1"/>
                </a:solidFill>
              </a:rPr>
              <a:t>Large legitimate payments may be flagged.</a:t>
            </a:r>
            <a:endParaRPr lang="en-US" sz="1800" dirty="0"/>
          </a:p>
          <a:p>
            <a:pPr marL="342900" indent="-342900">
              <a:spcAft>
                <a:spcPts val="1600"/>
              </a:spcAft>
              <a:buSzPct val="100000"/>
              <a:buChar char="•"/>
            </a:pPr>
            <a:r>
              <a:rPr lang="en-US" sz="1800" dirty="0">
                <a:solidFill>
                  <a:schemeClr val="tx1"/>
                </a:solidFill>
              </a:rPr>
              <a:t>Flagged transactions need human investigation: REVIEW is not proof of fraud.</a:t>
            </a:r>
            <a:endParaRPr lang="en-US" sz="1800" dirty="0"/>
          </a:p>
          <a:p>
            <a:pPr marL="342900" indent="-342900">
              <a:spcAft>
                <a:spcPts val="1600"/>
              </a:spcAft>
              <a:buSzPct val="100000"/>
              <a:buChar char="•"/>
            </a:pPr>
            <a:r>
              <a:rPr lang="en-US" sz="1800" dirty="0">
                <a:solidFill>
                  <a:schemeClr val="tx1"/>
                </a:solidFill>
              </a:rPr>
              <a:t>Thresholds are fixed in the SQL, and the duplicate rule has no time window.</a:t>
            </a:r>
            <a:endParaRPr lang="en-US" sz="1800" dirty="0"/>
          </a:p>
        </p:txBody>
      </p:sp>
      <p:sp>
        <p:nvSpPr>
          <p:cNvPr id="8" name="Future header"/>
          <p:cNvSpPr txBox="1"/>
          <p:nvPr/>
        </p:nvSpPr>
        <p:spPr>
          <a:xfrm>
            <a:off x="6245352" y="1463040"/>
            <a:ext cx="2743200" cy="457200"/>
          </a:xfrm>
          <a:prstGeom prst="rect">
            <a:avLst/>
          </a:prstGeom>
          <a:noFill/>
          <a:ln/>
        </p:spPr>
        <p:txBody>
          <a:bodyPr wrap="square" lIns="0" tIns="0" rIns="0" bIns="0" rtlCol="0" anchor="ctr"/>
          <a:lstStyle/>
          <a:p>
            <a:pPr marL="0" indent="0">
              <a:buNone/>
            </a:pPr>
            <a:r>
              <a:rPr lang="en-US" sz="2200" b="1" dirty="0">
                <a:solidFill>
                  <a:schemeClr val="tx1"/>
                </a:solidFill>
              </a:rPr>
              <a:t>Future scope</a:t>
            </a:r>
            <a:endParaRPr lang="en-US" sz="2200" dirty="0"/>
          </a:p>
        </p:txBody>
      </p:sp>
      <p:sp>
        <p:nvSpPr>
          <p:cNvPr id="9" name="Pill PLANNED — NOT IMPLEMENTED"/>
          <p:cNvSpPr/>
          <p:nvPr/>
        </p:nvSpPr>
        <p:spPr>
          <a:xfrm>
            <a:off x="8302752" y="1527048"/>
            <a:ext cx="3291840" cy="329184"/>
          </a:xfrm>
          <a:prstGeom prst="roundRect">
            <a:avLst>
              <a:gd name="adj" fmla="val 50000"/>
            </a:avLst>
          </a:prstGeom>
          <a:solidFill>
            <a:schemeClr val="bg1"/>
          </a:solidFill>
          <a:ln w="19050">
            <a:solidFill>
              <a:schemeClr val="accent2"/>
            </a:solidFill>
            <a:prstDash val="dash"/>
          </a:ln>
        </p:spPr>
        <p:txBody>
          <a:bodyPr wrap="square" lIns="0" tIns="0" rIns="0" bIns="0" rtlCol="0" anchor="ctr"/>
          <a:lstStyle/>
          <a:p>
            <a:pPr marL="0" indent="0" algn="ctr">
              <a:buNone/>
            </a:pPr>
            <a:r>
              <a:rPr lang="en-US" sz="1200" b="1" dirty="0">
                <a:solidFill>
                  <a:schemeClr val="accent2"/>
                </a:solidFill>
              </a:rPr>
              <a:t>PLANNED — NOT IMPLEMENTED</a:t>
            </a:r>
            <a:endParaRPr lang="en-US" sz="1200" dirty="0"/>
          </a:p>
        </p:txBody>
      </p:sp>
      <p:sp>
        <p:nvSpPr>
          <p:cNvPr id="10" name="Future card 1"/>
          <p:cNvSpPr/>
          <p:nvPr/>
        </p:nvSpPr>
        <p:spPr>
          <a:xfrm>
            <a:off x="6245352" y="2103120"/>
            <a:ext cx="2561692" cy="1874520"/>
          </a:xfrm>
          <a:prstGeom prst="roundRect">
            <a:avLst>
              <a:gd name="adj" fmla="val 4878"/>
            </a:avLst>
          </a:prstGeom>
          <a:solidFill>
            <a:schemeClr val="bg1"/>
          </a:solidFill>
          <a:ln w="19050">
            <a:solidFill>
              <a:schemeClr val="accent2"/>
            </a:solidFill>
            <a:prstDash val="dash"/>
          </a:ln>
        </p:spPr>
      </p:sp>
      <p:sp>
        <p:nvSpPr>
          <p:cNvPr id="11" name="Configurable thresholds badge"/>
          <p:cNvSpPr/>
          <p:nvPr/>
        </p:nvSpPr>
        <p:spPr>
          <a:xfrm>
            <a:off x="6473952" y="2331720"/>
            <a:ext cx="594360" cy="594360"/>
          </a:xfrm>
          <a:prstGeom prst="ellipse">
            <a:avLst/>
          </a:prstGeom>
          <a:solidFill>
            <a:schemeClr val="accent3"/>
          </a:solidFill>
          <a:ln/>
        </p:spPr>
      </p:sp>
      <p:pic>
        <p:nvPicPr>
          <p:cNvPr id="12" name="Configurable thresholds icon" descr="Configurable thresholds icon"/>
          <p:cNvPicPr>
            <a:picLocks noChangeAspect="1"/>
          </p:cNvPicPr>
          <p:nvPr/>
        </p:nvPicPr>
        <p:blipFill>
          <a:blip r:embed="rId4"/>
          <a:stretch>
            <a:fillRect/>
          </a:stretch>
        </p:blipFill>
        <p:spPr>
          <a:xfrm>
            <a:off x="6628486" y="2486254"/>
            <a:ext cx="285293" cy="285293"/>
          </a:xfrm>
          <a:prstGeom prst="rect">
            <a:avLst/>
          </a:prstGeom>
        </p:spPr>
      </p:pic>
      <p:sp>
        <p:nvSpPr>
          <p:cNvPr id="13" name="Configurable thresholds"/>
          <p:cNvSpPr txBox="1"/>
          <p:nvPr/>
        </p:nvSpPr>
        <p:spPr>
          <a:xfrm>
            <a:off x="6473952" y="2971800"/>
            <a:ext cx="2104492" cy="502920"/>
          </a:xfrm>
          <a:prstGeom prst="rect">
            <a:avLst/>
          </a:prstGeom>
          <a:noFill/>
          <a:ln/>
        </p:spPr>
        <p:txBody>
          <a:bodyPr wrap="square" lIns="0" tIns="0" rIns="0" bIns="0" rtlCol="0" anchor="t"/>
          <a:lstStyle/>
          <a:p>
            <a:pPr marL="0" indent="0">
              <a:buNone/>
            </a:pPr>
            <a:r>
              <a:rPr lang="en-US" sz="1600" b="1" dirty="0">
                <a:solidFill>
                  <a:schemeClr val="tx1"/>
                </a:solidFill>
              </a:rPr>
              <a:t>Configurable</a:t>
            </a:r>
            <a:endParaRPr lang="en-US" sz="1600" dirty="0"/>
          </a:p>
          <a:p>
            <a:pPr marL="0" indent="0">
              <a:buNone/>
            </a:pPr>
            <a:r>
              <a:rPr lang="en-US" sz="1600" b="1" dirty="0">
                <a:solidFill>
                  <a:schemeClr val="tx1"/>
                </a:solidFill>
              </a:rPr>
              <a:t>thresholds</a:t>
            </a:r>
            <a:endParaRPr lang="en-US" sz="1600" dirty="0"/>
          </a:p>
        </p:txBody>
      </p:sp>
      <p:sp>
        <p:nvSpPr>
          <p:cNvPr id="14" name="Configurable thresholds detail"/>
          <p:cNvSpPr txBox="1"/>
          <p:nvPr/>
        </p:nvSpPr>
        <p:spPr>
          <a:xfrm>
            <a:off x="6473952" y="3474720"/>
            <a:ext cx="2104492" cy="457200"/>
          </a:xfrm>
          <a:prstGeom prst="rect">
            <a:avLst/>
          </a:prstGeom>
          <a:noFill/>
          <a:ln/>
        </p:spPr>
        <p:txBody>
          <a:bodyPr wrap="square" lIns="0" tIns="0" rIns="0" bIns="0" rtlCol="0" anchor="t"/>
          <a:lstStyle/>
          <a:p>
            <a:pPr marL="0" indent="0">
              <a:buNone/>
            </a:pPr>
            <a:r>
              <a:rPr lang="en-US" sz="1300" dirty="0">
                <a:solidFill>
                  <a:schemeClr val="accent6"/>
                </a:solidFill>
              </a:rPr>
              <a:t>Move limits and weights out of the SQL</a:t>
            </a:r>
            <a:endParaRPr lang="en-US" sz="1300" dirty="0"/>
          </a:p>
        </p:txBody>
      </p:sp>
      <p:sp>
        <p:nvSpPr>
          <p:cNvPr id="15" name="Future card 2"/>
          <p:cNvSpPr/>
          <p:nvPr/>
        </p:nvSpPr>
        <p:spPr>
          <a:xfrm>
            <a:off x="9081364" y="2103120"/>
            <a:ext cx="2561692" cy="1874520"/>
          </a:xfrm>
          <a:prstGeom prst="roundRect">
            <a:avLst>
              <a:gd name="adj" fmla="val 4878"/>
            </a:avLst>
          </a:prstGeom>
          <a:solidFill>
            <a:schemeClr val="bg1"/>
          </a:solidFill>
          <a:ln w="19050">
            <a:solidFill>
              <a:schemeClr val="accent2"/>
            </a:solidFill>
            <a:prstDash val="dash"/>
          </a:ln>
        </p:spPr>
      </p:sp>
      <p:sp>
        <p:nvSpPr>
          <p:cNvPr id="16" name="Richer transaction patterns badge"/>
          <p:cNvSpPr/>
          <p:nvPr/>
        </p:nvSpPr>
        <p:spPr>
          <a:xfrm>
            <a:off x="9309964" y="2331720"/>
            <a:ext cx="594360" cy="594360"/>
          </a:xfrm>
          <a:prstGeom prst="ellipse">
            <a:avLst/>
          </a:prstGeom>
          <a:solidFill>
            <a:schemeClr val="accent3"/>
          </a:solidFill>
          <a:ln/>
        </p:spPr>
      </p:sp>
      <p:pic>
        <p:nvPicPr>
          <p:cNvPr id="17" name="Richer transaction patterns icon" descr="Richer transaction patterns icon"/>
          <p:cNvPicPr>
            <a:picLocks noChangeAspect="1"/>
          </p:cNvPicPr>
          <p:nvPr/>
        </p:nvPicPr>
        <p:blipFill>
          <a:blip r:embed="rId5"/>
          <a:stretch>
            <a:fillRect/>
          </a:stretch>
        </p:blipFill>
        <p:spPr>
          <a:xfrm>
            <a:off x="9464497" y="2486254"/>
            <a:ext cx="285293" cy="285293"/>
          </a:xfrm>
          <a:prstGeom prst="rect">
            <a:avLst/>
          </a:prstGeom>
        </p:spPr>
      </p:pic>
      <p:sp>
        <p:nvSpPr>
          <p:cNvPr id="18" name="Richer transaction patterns"/>
          <p:cNvSpPr txBox="1"/>
          <p:nvPr/>
        </p:nvSpPr>
        <p:spPr>
          <a:xfrm>
            <a:off x="9309964" y="2971800"/>
            <a:ext cx="2104492" cy="502920"/>
          </a:xfrm>
          <a:prstGeom prst="rect">
            <a:avLst/>
          </a:prstGeom>
          <a:noFill/>
          <a:ln/>
        </p:spPr>
        <p:txBody>
          <a:bodyPr wrap="square" lIns="0" tIns="0" rIns="0" bIns="0" rtlCol="0" anchor="t"/>
          <a:lstStyle/>
          <a:p>
            <a:pPr marL="0" indent="0">
              <a:buNone/>
            </a:pPr>
            <a:r>
              <a:rPr lang="en-US" sz="1600" b="1" dirty="0">
                <a:solidFill>
                  <a:schemeClr val="tx1"/>
                </a:solidFill>
              </a:rPr>
              <a:t>Richer</a:t>
            </a:r>
            <a:endParaRPr lang="en-US" sz="1600" dirty="0"/>
          </a:p>
          <a:p>
            <a:pPr marL="0" indent="0">
              <a:buNone/>
            </a:pPr>
            <a:r>
              <a:rPr lang="en-US" sz="1600" b="1" dirty="0">
                <a:solidFill>
                  <a:schemeClr val="tx1"/>
                </a:solidFill>
              </a:rPr>
              <a:t>transaction patterns</a:t>
            </a:r>
            <a:endParaRPr lang="en-US" sz="1600" dirty="0"/>
          </a:p>
        </p:txBody>
      </p:sp>
      <p:sp>
        <p:nvSpPr>
          <p:cNvPr id="19" name="Richer transaction patterns detail"/>
          <p:cNvSpPr txBox="1"/>
          <p:nvPr/>
        </p:nvSpPr>
        <p:spPr>
          <a:xfrm>
            <a:off x="9309964" y="3474720"/>
            <a:ext cx="2104492" cy="457200"/>
          </a:xfrm>
          <a:prstGeom prst="rect">
            <a:avLst/>
          </a:prstGeom>
          <a:noFill/>
          <a:ln/>
        </p:spPr>
        <p:txBody>
          <a:bodyPr wrap="square" lIns="0" tIns="0" rIns="0" bIns="0" rtlCol="0" anchor="t"/>
          <a:lstStyle/>
          <a:p>
            <a:pPr marL="0" indent="0">
              <a:buNone/>
            </a:pPr>
            <a:r>
              <a:rPr lang="en-US" sz="1300" dirty="0">
                <a:solidFill>
                  <a:schemeClr val="accent6"/>
                </a:solidFill>
              </a:rPr>
              <a:t>Add rules beyond the current three</a:t>
            </a:r>
            <a:endParaRPr lang="en-US" sz="1300" dirty="0"/>
          </a:p>
        </p:txBody>
      </p:sp>
      <p:sp>
        <p:nvSpPr>
          <p:cNvPr id="20" name="Future card 3"/>
          <p:cNvSpPr/>
          <p:nvPr/>
        </p:nvSpPr>
        <p:spPr>
          <a:xfrm>
            <a:off x="6245352" y="4206240"/>
            <a:ext cx="2561692" cy="1874520"/>
          </a:xfrm>
          <a:prstGeom prst="roundRect">
            <a:avLst>
              <a:gd name="adj" fmla="val 4878"/>
            </a:avLst>
          </a:prstGeom>
          <a:solidFill>
            <a:schemeClr val="bg1"/>
          </a:solidFill>
          <a:ln w="19050">
            <a:solidFill>
              <a:schemeClr val="accent2"/>
            </a:solidFill>
            <a:prstDash val="dash"/>
          </a:ln>
        </p:spPr>
      </p:sp>
      <p:sp>
        <p:nvSpPr>
          <p:cNvPr id="21" name="Dashboard badge"/>
          <p:cNvSpPr/>
          <p:nvPr/>
        </p:nvSpPr>
        <p:spPr>
          <a:xfrm>
            <a:off x="6473952" y="4434840"/>
            <a:ext cx="594360" cy="594360"/>
          </a:xfrm>
          <a:prstGeom prst="ellipse">
            <a:avLst/>
          </a:prstGeom>
          <a:solidFill>
            <a:schemeClr val="accent3"/>
          </a:solidFill>
          <a:ln/>
        </p:spPr>
      </p:sp>
      <p:pic>
        <p:nvPicPr>
          <p:cNvPr id="22" name="Dashboard icon" descr="Dashboard icon"/>
          <p:cNvPicPr>
            <a:picLocks noChangeAspect="1"/>
          </p:cNvPicPr>
          <p:nvPr/>
        </p:nvPicPr>
        <p:blipFill>
          <a:blip r:embed="rId6"/>
          <a:stretch>
            <a:fillRect/>
          </a:stretch>
        </p:blipFill>
        <p:spPr>
          <a:xfrm>
            <a:off x="6628486" y="4589374"/>
            <a:ext cx="285293" cy="285293"/>
          </a:xfrm>
          <a:prstGeom prst="rect">
            <a:avLst/>
          </a:prstGeom>
        </p:spPr>
      </p:pic>
      <p:sp>
        <p:nvSpPr>
          <p:cNvPr id="23" name="Dashboard"/>
          <p:cNvSpPr txBox="1"/>
          <p:nvPr/>
        </p:nvSpPr>
        <p:spPr>
          <a:xfrm>
            <a:off x="6473952" y="5074920"/>
            <a:ext cx="2104492" cy="502920"/>
          </a:xfrm>
          <a:prstGeom prst="rect">
            <a:avLst/>
          </a:prstGeom>
          <a:noFill/>
          <a:ln/>
        </p:spPr>
        <p:txBody>
          <a:bodyPr wrap="square" lIns="0" tIns="0" rIns="0" bIns="0" rtlCol="0" anchor="t"/>
          <a:lstStyle/>
          <a:p>
            <a:pPr marL="0" indent="0">
              <a:buNone/>
            </a:pPr>
            <a:r>
              <a:rPr lang="en-US" sz="1600" b="1" dirty="0">
                <a:solidFill>
                  <a:schemeClr val="tx1"/>
                </a:solidFill>
              </a:rPr>
              <a:t>Dashboard</a:t>
            </a:r>
            <a:endParaRPr lang="en-US" sz="1600" dirty="0"/>
          </a:p>
        </p:txBody>
      </p:sp>
      <p:sp>
        <p:nvSpPr>
          <p:cNvPr id="24" name="Dashboard detail"/>
          <p:cNvSpPr txBox="1"/>
          <p:nvPr/>
        </p:nvSpPr>
        <p:spPr>
          <a:xfrm>
            <a:off x="6473952" y="5577840"/>
            <a:ext cx="2104492" cy="457200"/>
          </a:xfrm>
          <a:prstGeom prst="rect">
            <a:avLst/>
          </a:prstGeom>
          <a:noFill/>
          <a:ln/>
        </p:spPr>
        <p:txBody>
          <a:bodyPr wrap="square" lIns="0" tIns="0" rIns="0" bIns="0" rtlCol="0" anchor="t"/>
          <a:lstStyle/>
          <a:p>
            <a:pPr marL="0" indent="0">
              <a:buNone/>
            </a:pPr>
            <a:r>
              <a:rPr lang="en-US" sz="1300" dirty="0">
                <a:solidFill>
                  <a:schemeClr val="accent6"/>
                </a:solidFill>
              </a:rPr>
              <a:t>Visualize the review queue</a:t>
            </a:r>
            <a:endParaRPr lang="en-US" sz="1300" dirty="0"/>
          </a:p>
        </p:txBody>
      </p:sp>
      <p:sp>
        <p:nvSpPr>
          <p:cNvPr id="25" name="Future card 4"/>
          <p:cNvSpPr/>
          <p:nvPr/>
        </p:nvSpPr>
        <p:spPr>
          <a:xfrm>
            <a:off x="9081364" y="4206240"/>
            <a:ext cx="2561692" cy="1874520"/>
          </a:xfrm>
          <a:prstGeom prst="roundRect">
            <a:avLst>
              <a:gd name="adj" fmla="val 4878"/>
            </a:avLst>
          </a:prstGeom>
          <a:solidFill>
            <a:schemeClr val="bg1"/>
          </a:solidFill>
          <a:ln w="19050">
            <a:solidFill>
              <a:schemeClr val="accent2"/>
            </a:solidFill>
            <a:prstDash val="dash"/>
          </a:ln>
        </p:spPr>
      </p:sp>
      <p:sp>
        <p:nvSpPr>
          <p:cNvPr id="26" name="Labelled-dataset evaluation badge"/>
          <p:cNvSpPr/>
          <p:nvPr/>
        </p:nvSpPr>
        <p:spPr>
          <a:xfrm>
            <a:off x="9309964" y="4434840"/>
            <a:ext cx="594360" cy="594360"/>
          </a:xfrm>
          <a:prstGeom prst="ellipse">
            <a:avLst/>
          </a:prstGeom>
          <a:solidFill>
            <a:schemeClr val="accent3"/>
          </a:solidFill>
          <a:ln/>
        </p:spPr>
      </p:sp>
      <p:pic>
        <p:nvPicPr>
          <p:cNvPr id="27" name="Labelled-dataset evaluation icon" descr="Labelled-dataset evaluation icon"/>
          <p:cNvPicPr>
            <a:picLocks noChangeAspect="1"/>
          </p:cNvPicPr>
          <p:nvPr/>
        </p:nvPicPr>
        <p:blipFill>
          <a:blip r:embed="rId7"/>
          <a:stretch>
            <a:fillRect/>
          </a:stretch>
        </p:blipFill>
        <p:spPr>
          <a:xfrm>
            <a:off x="9464497" y="4589374"/>
            <a:ext cx="285293" cy="285293"/>
          </a:xfrm>
          <a:prstGeom prst="rect">
            <a:avLst/>
          </a:prstGeom>
        </p:spPr>
      </p:pic>
      <p:sp>
        <p:nvSpPr>
          <p:cNvPr id="28" name="Labelled-dataset evaluation"/>
          <p:cNvSpPr txBox="1"/>
          <p:nvPr/>
        </p:nvSpPr>
        <p:spPr>
          <a:xfrm>
            <a:off x="9309964" y="5074920"/>
            <a:ext cx="2104492" cy="502920"/>
          </a:xfrm>
          <a:prstGeom prst="rect">
            <a:avLst/>
          </a:prstGeom>
          <a:noFill/>
          <a:ln/>
        </p:spPr>
        <p:txBody>
          <a:bodyPr wrap="square" lIns="0" tIns="0" rIns="0" bIns="0" rtlCol="0" anchor="t"/>
          <a:lstStyle/>
          <a:p>
            <a:pPr marL="0" indent="0">
              <a:buNone/>
            </a:pPr>
            <a:r>
              <a:rPr lang="en-US" sz="1600" b="1" dirty="0">
                <a:solidFill>
                  <a:schemeClr val="tx1"/>
                </a:solidFill>
              </a:rPr>
              <a:t>Labelled-dataset</a:t>
            </a:r>
            <a:endParaRPr lang="en-US" sz="1600" dirty="0"/>
          </a:p>
          <a:p>
            <a:pPr marL="0" indent="0">
              <a:buNone/>
            </a:pPr>
            <a:r>
              <a:rPr lang="en-US" sz="1600" b="1" dirty="0">
                <a:solidFill>
                  <a:schemeClr val="tx1"/>
                </a:solidFill>
              </a:rPr>
              <a:t>evaluation</a:t>
            </a:r>
            <a:endParaRPr lang="en-US" sz="1600" dirty="0"/>
          </a:p>
        </p:txBody>
      </p:sp>
      <p:sp>
        <p:nvSpPr>
          <p:cNvPr id="29" name="Labelled-dataset evaluation detail"/>
          <p:cNvSpPr txBox="1"/>
          <p:nvPr/>
        </p:nvSpPr>
        <p:spPr>
          <a:xfrm>
            <a:off x="9309964" y="5577840"/>
            <a:ext cx="2104492" cy="457200"/>
          </a:xfrm>
          <a:prstGeom prst="rect">
            <a:avLst/>
          </a:prstGeom>
          <a:noFill/>
          <a:ln/>
        </p:spPr>
        <p:txBody>
          <a:bodyPr wrap="square" lIns="0" tIns="0" rIns="0" bIns="0" rtlCol="0" anchor="t"/>
          <a:lstStyle/>
          <a:p>
            <a:pPr marL="0" indent="0">
              <a:buNone/>
            </a:pPr>
            <a:r>
              <a:rPr lang="en-US" sz="1300" dirty="0">
                <a:solidFill>
                  <a:schemeClr val="accent6"/>
                </a:solidFill>
              </a:rPr>
              <a:t>Measure rule quality properly</a:t>
            </a:r>
            <a:endParaRPr lang="en-US" sz="1300" dirty="0"/>
          </a:p>
        </p:txBody>
      </p:sp>
      <p:sp>
        <p:nvSpPr>
          <p:cNvPr id="30"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en-US" sz="3600" b="1" dirty="0">
                <a:solidFill>
                  <a:schemeClr val="bg1"/>
                </a:solidFill>
              </a:rPr>
              <a:t>Conclusion</a:t>
            </a:r>
            <a:endParaRPr lang="en-US" sz="3600" dirty="0"/>
          </a:p>
        </p:txBody>
      </p:sp>
      <p:sp>
        <p:nvSpPr>
          <p:cNvPr id="3" name="Conclusion row 1"/>
          <p:cNvSpPr/>
          <p:nvPr/>
        </p:nvSpPr>
        <p:spPr>
          <a:xfrm>
            <a:off x="548640" y="1371600"/>
            <a:ext cx="11094415" cy="868680"/>
          </a:xfrm>
          <a:prstGeom prst="roundRect">
            <a:avLst>
              <a:gd name="adj" fmla="val 10526"/>
            </a:avLst>
          </a:prstGeom>
          <a:solidFill>
            <a:schemeClr val="tx2"/>
          </a:solidFill>
          <a:ln/>
        </p:spPr>
      </p:sp>
      <p:sp>
        <p:nvSpPr>
          <p:cNvPr id="4" name="Conclusion 1 badge"/>
          <p:cNvSpPr/>
          <p:nvPr/>
        </p:nvSpPr>
        <p:spPr>
          <a:xfrm>
            <a:off x="822960" y="1527048"/>
            <a:ext cx="548640" cy="548640"/>
          </a:xfrm>
          <a:prstGeom prst="ellipse">
            <a:avLst/>
          </a:prstGeom>
          <a:solidFill>
            <a:schemeClr val="accent1"/>
          </a:solidFill>
          <a:ln/>
        </p:spPr>
      </p:sp>
      <p:pic>
        <p:nvPicPr>
          <p:cNvPr id="5" name="Conclusion 1 icon" descr="Conclusion 1 icon"/>
          <p:cNvPicPr>
            <a:picLocks noChangeAspect="1"/>
          </p:cNvPicPr>
          <p:nvPr/>
        </p:nvPicPr>
        <p:blipFill>
          <a:blip r:embed="rId3"/>
          <a:stretch>
            <a:fillRect/>
          </a:stretch>
        </p:blipFill>
        <p:spPr>
          <a:xfrm>
            <a:off x="965606" y="1669694"/>
            <a:ext cx="263347" cy="263347"/>
          </a:xfrm>
          <a:prstGeom prst="rect">
            <a:avLst/>
          </a:prstGeom>
        </p:spPr>
      </p:pic>
      <p:sp>
        <p:nvSpPr>
          <p:cNvPr id="6" name="Conclusion text 1"/>
          <p:cNvSpPr txBox="1"/>
          <p:nvPr/>
        </p:nvSpPr>
        <p:spPr>
          <a:xfrm>
            <a:off x="1645920" y="1371600"/>
            <a:ext cx="9722815" cy="868680"/>
          </a:xfrm>
          <a:prstGeom prst="rect">
            <a:avLst/>
          </a:prstGeom>
          <a:noFill/>
          <a:ln/>
        </p:spPr>
        <p:txBody>
          <a:bodyPr wrap="square" lIns="0" tIns="0" rIns="0" bIns="0" rtlCol="0" anchor="ctr"/>
          <a:lstStyle/>
          <a:p>
            <a:pPr marL="0" indent="0">
              <a:buNone/>
            </a:pPr>
            <a:r>
              <a:rPr lang="en-US" sz="1800" dirty="0">
                <a:solidFill>
                  <a:schemeClr val="bg1"/>
                </a:solidFill>
              </a:rPr>
              <a:t>Exasol and SQL screen financial transactions with three window-function rules: duplicates, high value and daily frequency.</a:t>
            </a:r>
            <a:endParaRPr lang="en-US" sz="1800" dirty="0"/>
          </a:p>
        </p:txBody>
      </p:sp>
      <p:sp>
        <p:nvSpPr>
          <p:cNvPr id="7" name="Conclusion row 2"/>
          <p:cNvSpPr/>
          <p:nvPr/>
        </p:nvSpPr>
        <p:spPr>
          <a:xfrm>
            <a:off x="548640" y="2377440"/>
            <a:ext cx="11094415" cy="868680"/>
          </a:xfrm>
          <a:prstGeom prst="roundRect">
            <a:avLst>
              <a:gd name="adj" fmla="val 10526"/>
            </a:avLst>
          </a:prstGeom>
          <a:solidFill>
            <a:schemeClr val="tx2"/>
          </a:solidFill>
          <a:ln/>
        </p:spPr>
      </p:sp>
      <p:sp>
        <p:nvSpPr>
          <p:cNvPr id="8" name="Conclusion 2 badge"/>
          <p:cNvSpPr/>
          <p:nvPr/>
        </p:nvSpPr>
        <p:spPr>
          <a:xfrm>
            <a:off x="822960" y="2532888"/>
            <a:ext cx="548640" cy="548640"/>
          </a:xfrm>
          <a:prstGeom prst="ellipse">
            <a:avLst/>
          </a:prstGeom>
          <a:solidFill>
            <a:schemeClr val="accent1"/>
          </a:solidFill>
          <a:ln/>
        </p:spPr>
      </p:sp>
      <p:pic>
        <p:nvPicPr>
          <p:cNvPr id="9" name="Conclusion 2 icon" descr="Conclusion 2 icon"/>
          <p:cNvPicPr>
            <a:picLocks noChangeAspect="1"/>
          </p:cNvPicPr>
          <p:nvPr/>
        </p:nvPicPr>
        <p:blipFill>
          <a:blip r:embed="rId4"/>
          <a:stretch>
            <a:fillRect/>
          </a:stretch>
        </p:blipFill>
        <p:spPr>
          <a:xfrm>
            <a:off x="965606" y="2675534"/>
            <a:ext cx="263347" cy="263347"/>
          </a:xfrm>
          <a:prstGeom prst="rect">
            <a:avLst/>
          </a:prstGeom>
        </p:spPr>
      </p:pic>
      <p:sp>
        <p:nvSpPr>
          <p:cNvPr id="10" name="Conclusion text 2"/>
          <p:cNvSpPr txBox="1"/>
          <p:nvPr/>
        </p:nvSpPr>
        <p:spPr>
          <a:xfrm>
            <a:off x="1645920" y="2377440"/>
            <a:ext cx="9722815" cy="868680"/>
          </a:xfrm>
          <a:prstGeom prst="rect">
            <a:avLst/>
          </a:prstGeom>
          <a:noFill/>
          <a:ln/>
        </p:spPr>
        <p:txBody>
          <a:bodyPr wrap="square" lIns="0" tIns="0" rIns="0" bIns="0" rtlCol="0" anchor="ctr"/>
          <a:lstStyle/>
          <a:p>
            <a:pPr marL="0" indent="0">
              <a:buNone/>
            </a:pPr>
            <a:r>
              <a:rPr lang="en-US" sz="1800" dirty="0">
                <a:solidFill>
                  <a:schemeClr val="bg1"/>
                </a:solidFill>
              </a:rPr>
              <a:t>Each transaction gets a risk score, a severity, a REVIEW or NORMAL status and a plain-language reason.</a:t>
            </a:r>
            <a:endParaRPr lang="en-US" sz="1800" dirty="0"/>
          </a:p>
        </p:txBody>
      </p:sp>
      <p:sp>
        <p:nvSpPr>
          <p:cNvPr id="11" name="Conclusion row 3"/>
          <p:cNvSpPr/>
          <p:nvPr/>
        </p:nvSpPr>
        <p:spPr>
          <a:xfrm>
            <a:off x="548640" y="3383280"/>
            <a:ext cx="11094415" cy="868680"/>
          </a:xfrm>
          <a:prstGeom prst="roundRect">
            <a:avLst>
              <a:gd name="adj" fmla="val 10526"/>
            </a:avLst>
          </a:prstGeom>
          <a:solidFill>
            <a:schemeClr val="tx2"/>
          </a:solidFill>
          <a:ln/>
        </p:spPr>
      </p:sp>
      <p:sp>
        <p:nvSpPr>
          <p:cNvPr id="12" name="Conclusion 3 badge"/>
          <p:cNvSpPr/>
          <p:nvPr/>
        </p:nvSpPr>
        <p:spPr>
          <a:xfrm>
            <a:off x="822960" y="3538728"/>
            <a:ext cx="548640" cy="548640"/>
          </a:xfrm>
          <a:prstGeom prst="ellipse">
            <a:avLst/>
          </a:prstGeom>
          <a:solidFill>
            <a:schemeClr val="accent1"/>
          </a:solidFill>
          <a:ln/>
        </p:spPr>
      </p:sp>
      <p:pic>
        <p:nvPicPr>
          <p:cNvPr id="13" name="Conclusion 3 icon" descr="Conclusion 3 icon"/>
          <p:cNvPicPr>
            <a:picLocks noChangeAspect="1"/>
          </p:cNvPicPr>
          <p:nvPr/>
        </p:nvPicPr>
        <p:blipFill>
          <a:blip r:embed="rId5"/>
          <a:stretch>
            <a:fillRect/>
          </a:stretch>
        </p:blipFill>
        <p:spPr>
          <a:xfrm>
            <a:off x="965606" y="3681374"/>
            <a:ext cx="263347" cy="263347"/>
          </a:xfrm>
          <a:prstGeom prst="rect">
            <a:avLst/>
          </a:prstGeom>
        </p:spPr>
      </p:pic>
      <p:sp>
        <p:nvSpPr>
          <p:cNvPr id="14" name="Conclusion text 3"/>
          <p:cNvSpPr txBox="1"/>
          <p:nvPr/>
        </p:nvSpPr>
        <p:spPr>
          <a:xfrm>
            <a:off x="1645920" y="3383280"/>
            <a:ext cx="9722815" cy="868680"/>
          </a:xfrm>
          <a:prstGeom prst="rect">
            <a:avLst/>
          </a:prstGeom>
          <a:noFill/>
          <a:ln/>
        </p:spPr>
        <p:txBody>
          <a:bodyPr wrap="square" lIns="0" tIns="0" rIns="0" bIns="0" rtlCol="0" anchor="ctr"/>
          <a:lstStyle/>
          <a:p>
            <a:pPr marL="0" indent="0">
              <a:buNone/>
            </a:pPr>
            <a:r>
              <a:rPr lang="en-US" sz="1800" dirty="0">
                <a:solidFill>
                  <a:schemeClr val="bg1"/>
                </a:solidFill>
              </a:rPr>
              <a:t>Flags prioritize potentially suspicious activity for human investigation. They are not proof of fraud.</a:t>
            </a:r>
            <a:endParaRPr lang="en-US" sz="1800" dirty="0"/>
          </a:p>
        </p:txBody>
      </p:sp>
      <p:sp>
        <p:nvSpPr>
          <p:cNvPr id="15" name="Tagline"/>
          <p:cNvSpPr txBox="1"/>
          <p:nvPr/>
        </p:nvSpPr>
        <p:spPr>
          <a:xfrm>
            <a:off x="548640" y="4434840"/>
            <a:ext cx="11094415" cy="1280160"/>
          </a:xfrm>
          <a:prstGeom prst="rect">
            <a:avLst/>
          </a:prstGeom>
          <a:noFill/>
          <a:ln/>
        </p:spPr>
        <p:txBody>
          <a:bodyPr wrap="square" lIns="0" tIns="0" rIns="0" bIns="0" rtlCol="0" anchor="ctr"/>
          <a:lstStyle/>
          <a:p>
            <a:pPr marL="0" indent="0">
              <a:buNone/>
            </a:pPr>
            <a:r>
              <a:rPr lang="en-US" sz="2600" b="1" dirty="0">
                <a:solidFill>
                  <a:schemeClr val="accent4"/>
                </a:solidFill>
              </a:rPr>
              <a:t>Detect suspicious patterns.</a:t>
            </a:r>
            <a:endParaRPr lang="en-US" sz="2600" dirty="0"/>
          </a:p>
          <a:p>
            <a:pPr marL="0" indent="0">
              <a:buNone/>
            </a:pPr>
            <a:r>
              <a:rPr lang="en-US" sz="2600" b="1" dirty="0">
                <a:solidFill>
                  <a:schemeClr val="accent4"/>
                </a:solidFill>
              </a:rPr>
              <a:t>Explain the risk.</a:t>
            </a:r>
            <a:endParaRPr lang="en-US" sz="2600" dirty="0"/>
          </a:p>
          <a:p>
            <a:pPr marL="0" indent="0">
              <a:buNone/>
            </a:pPr>
            <a:r>
              <a:rPr lang="en-US" sz="2600" b="1" dirty="0">
                <a:solidFill>
                  <a:schemeClr val="accent4"/>
                </a:solidFill>
              </a:rPr>
              <a:t>Support better decisions.</a:t>
            </a:r>
            <a:endParaRPr lang="en-US" sz="2600" dirty="0"/>
          </a:p>
        </p:txBody>
      </p:sp>
      <p:pic>
        <p:nvPicPr>
          <p:cNvPr id="16" name="GitHub icon" descr="GitHub"/>
          <p:cNvPicPr>
            <a:picLocks noChangeAspect="1"/>
          </p:cNvPicPr>
          <p:nvPr/>
        </p:nvPicPr>
        <p:blipFill>
          <a:blip r:embed="rId6"/>
          <a:stretch>
            <a:fillRect/>
          </a:stretch>
        </p:blipFill>
        <p:spPr>
          <a:xfrm>
            <a:off x="548640" y="5852160"/>
            <a:ext cx="329184" cy="329184"/>
          </a:xfrm>
          <a:prstGeom prst="rect">
            <a:avLst/>
          </a:prstGeom>
        </p:spPr>
      </p:pic>
      <p:sp>
        <p:nvSpPr>
          <p:cNvPr id="17" name="Repository link"/>
          <p:cNvSpPr txBox="1"/>
          <p:nvPr/>
        </p:nvSpPr>
        <p:spPr>
          <a:xfrm>
            <a:off x="1005840" y="5833872"/>
            <a:ext cx="7315200" cy="365760"/>
          </a:xfrm>
          <a:prstGeom prst="rect">
            <a:avLst/>
          </a:prstGeom>
          <a:noFill/>
          <a:ln/>
        </p:spPr>
        <p:txBody>
          <a:bodyPr wrap="square" lIns="0" tIns="0" rIns="0" bIns="0" rtlCol="0" anchor="ctr"/>
          <a:lstStyle/>
          <a:p>
            <a:pPr marL="0" indent="0">
              <a:buNone/>
            </a:pPr>
            <a:r>
              <a:rPr lang="en-US" sz="1800" u="sng" dirty="0">
                <a:solidFill>
                  <a:schemeClr val="accent4"/>
                </a:solidFill>
                <a:hlinkClick r:id="rId7" tooltip="Open the TransactionGuard repository">
                  <a:extLst>
                    <a:ext uri="{A12FA001-AC4F-418D-AE19-62706E023703}">
                      <ahyp:hlinkClr xmlns:ahyp="http://schemas.microsoft.com/office/drawing/2018/hyperlinkcolor" val="tx"/>
                    </a:ext>
                  </a:extLst>
                </a:hlinkClick>
              </a:rPr>
              <a:t>https://github.com/Sindhureny/transaction_guard</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TransactionGuard Fintech">
  <a:themeElements>
    <a:clrScheme name="TransactionGuard Fintech">
      <a:dk1>
        <a:srgbClr val="0B1F3A"/>
      </a:dk1>
      <a:lt1>
        <a:srgbClr val="FFFFFF"/>
      </a:lt1>
      <a:dk2>
        <a:srgbClr val="14345F"/>
      </a:dk2>
      <a:lt2>
        <a:srgbClr val="EEF3F8"/>
      </a:lt2>
      <a:accent1>
        <a:srgbClr val="0B8480"/>
      </a:accent1>
      <a:accent2>
        <a:srgbClr val="D9701F"/>
      </a:accent2>
      <a:accent3>
        <a:srgbClr val="2F5D9E"/>
      </a:accent3>
      <a:accent4>
        <a:srgbClr val="7FD6D0"/>
      </a:accent4>
      <a:accent5>
        <a:srgbClr val="A9BCD6"/>
      </a:accent5>
      <a:accent6>
        <a:srgbClr val="5E7189"/>
      </a:accent6>
      <a:hlink>
        <a:srgbClr val="7FD6D0"/>
      </a:hlink>
      <a:folHlink>
        <a:srgbClr val="A9BCD6"/>
      </a:folHlink>
    </a:clrScheme>
    <a:fontScheme name="TransactionGuard Finte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1983</Words>
  <Application>Microsoft Office PowerPoint</Application>
  <PresentationFormat>Widescreen</PresentationFormat>
  <Paragraphs>329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(Headings)</vt:lpstr>
      <vt:lpstr>Courier New</vt:lpstr>
      <vt:lpstr>TransactionGuard Fintech</vt:lpstr>
      <vt:lpstr>TransactionGuard</vt:lpstr>
      <vt:lpstr>The Problem: Manual Review Doesn't Scale</vt:lpstr>
      <vt:lpstr>Solution: SQL Rules That Flag for Review</vt:lpstr>
      <vt:lpstr>System Architecture</vt:lpstr>
      <vt:lpstr>Technology Stack</vt:lpstr>
      <vt:lpstr>Detection Logic</vt:lpstr>
      <vt:lpstr>Example Scenario</vt:lpstr>
      <vt:lpstr>Results and Evaluation</vt:lpstr>
      <vt:lpstr>Limitations and Future Scope</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TransactionGuard — Suspicious Transaction Detection Using Exasol</dc:title>
  <dc:subject>Hackathon presentation — Money, Risk &amp; Regulation</dc:subject>
  <dc:creator>Sindhureny S.</dc:creator>
  <cp:lastModifiedBy>durga sindhu</cp:lastModifiedBy>
  <cp:revision>2</cp:revision>
  <dcterms:created xsi:type="dcterms:W3CDTF">2026-10-25T09:42:47Z</dcterms:created>
  <dcterms:modified xsi:type="dcterms:W3CDTF">2026-10-25T10:12:56Z</dcterms:modified>
</cp:coreProperties>
</file>